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73" r:id="rId4"/>
    <p:sldId id="260" r:id="rId5"/>
    <p:sldId id="274" r:id="rId6"/>
    <p:sldId id="275" r:id="rId7"/>
    <p:sldId id="262" r:id="rId8"/>
    <p:sldId id="276" r:id="rId9"/>
    <p:sldId id="259" r:id="rId10"/>
    <p:sldId id="266" r:id="rId11"/>
    <p:sldId id="277" r:id="rId12"/>
    <p:sldId id="278" r:id="rId13"/>
    <p:sldId id="279" r:id="rId14"/>
    <p:sldId id="281" r:id="rId15"/>
    <p:sldId id="280" r:id="rId16"/>
    <p:sldId id="282" r:id="rId17"/>
    <p:sldId id="283" r:id="rId18"/>
    <p:sldId id="264" r:id="rId19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3493"/>
  </p:normalViewPr>
  <p:slideViewPr>
    <p:cSldViewPr snapToGrid="0">
      <p:cViewPr varScale="1">
        <p:scale>
          <a:sx n="156" d="100"/>
          <a:sy n="156" d="100"/>
        </p:scale>
        <p:origin x="176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93372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7CD0-04B6-182E-E3EE-794C5EF1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A8DD73B-F680-280A-1D36-546E71A7F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246AA77-E240-01CC-FF64-4280A02E1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27029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A6D8-4ABF-D546-2622-5CFCF090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CF8B981-628D-B63D-F15A-BACADEF74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18EBCE7-F261-870D-69FF-C708A19D4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8941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70764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AAC39-3A1E-8AB8-B7A7-9D607FA2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69F98DA-25F2-6894-C702-1AB15B524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9368B1A-8A42-ED6B-9201-2408D6060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40551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72966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78599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>
            <a:spLocks noGrp="1"/>
          </p:cNvSpPr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gif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magnifics_upscale-precision-we4uFarY0KTxXDoKVCcB-muwss_Abstract_digitally_generated_artwork_wide_cinematic_compo_8be46f49-319f-47a2-9a12-f2b9eaf211d8.pngGoogle Shape;54;p13" descr="magnifics_upscale-precision-we4uFarY0KTxXDoKVCcB-muwss_Abstract_digitally_generated_artwork_wide_cinematic_compo_8be46f49-319f-47a2-9a12-f2b9eaf211d8.pngGoogle Shape;54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75854" cy="514349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5;p13"/>
          <p:cNvSpPr txBox="1">
            <a:spLocks noGrp="1"/>
          </p:cNvSpPr>
          <p:nvPr>
            <p:ph type="ctrTitle"/>
          </p:nvPr>
        </p:nvSpPr>
        <p:spPr>
          <a:xfrm>
            <a:off x="436725" y="629075"/>
            <a:ext cx="5740800" cy="1726501"/>
          </a:xfrm>
          <a:prstGeom prst="rect">
            <a:avLst/>
          </a:prstGeom>
        </p:spPr>
        <p:txBody>
          <a:bodyPr anchor="t">
            <a:normAutofit fontScale="90000"/>
          </a:bodyPr>
          <a:lstStyle/>
          <a:p>
            <a:pPr algn="l" defTabSz="868680">
              <a:defRPr sz="5320">
                <a:solidFill>
                  <a:srgbClr val="FCB425"/>
                </a:solidFill>
              </a:defRPr>
            </a:pPr>
            <a:r>
              <a:rPr dirty="0"/>
              <a:t>QNN for Derivative</a:t>
            </a:r>
          </a:p>
          <a:p>
            <a:pPr algn="l" defTabSz="868680">
              <a:defRPr sz="5320">
                <a:solidFill>
                  <a:srgbClr val="FCB425"/>
                </a:solidFill>
              </a:defRPr>
            </a:pPr>
            <a:r>
              <a:rPr dirty="0"/>
              <a:t>Pricing on NISQ Hardware</a:t>
            </a:r>
          </a:p>
        </p:txBody>
      </p:sp>
      <p:sp>
        <p:nvSpPr>
          <p:cNvPr id="111" name="Google Shape;56;p13"/>
          <p:cNvSpPr/>
          <p:nvPr/>
        </p:nvSpPr>
        <p:spPr>
          <a:xfrm flipH="1">
            <a:off x="317324" y="969925"/>
            <a:ext cx="6644701" cy="2941802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2" name="Google Shape;57;p13"/>
          <p:cNvSpPr/>
          <p:nvPr/>
        </p:nvSpPr>
        <p:spPr>
          <a:xfrm>
            <a:off x="2086425" y="2574025"/>
            <a:ext cx="2370000" cy="15876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3" name="Google Shape;58;p13"/>
          <p:cNvSpPr/>
          <p:nvPr/>
        </p:nvSpPr>
        <p:spPr>
          <a:xfrm flipV="1">
            <a:off x="1398974" y="3481025"/>
            <a:ext cx="5393101" cy="3141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15" name="Google Shape;60;p13" descr="Google Shape;60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599" y="3795126"/>
            <a:ext cx="3146064" cy="9923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magnifics_upscale-precision-we4uFarY0KTxXDoKVCcB-muwss_Abstract_digitally_generated_artwork_wide_cinematic_compo_8be46f49-319f-47a2-9a12-f2b9eaf211d8.pngGoogle Shape;89;p15" descr="magnifics_upscale-precision-we4uFarY0KTxXDoKVCcB-muwss_Abstract_digitally_generated_artwork_wide_cinematic_compo_8be46f49-319f-47a2-9a12-f2b9eaf211d8.pngGoogle Shape;89;p15"/>
          <p:cNvPicPr>
            <a:picLocks noChangeAspect="1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flipH="1">
            <a:off x="0" y="7966"/>
            <a:ext cx="9175854" cy="5191464"/>
          </a:xfrm>
          <a:prstGeom prst="rect">
            <a:avLst/>
          </a:prstGeom>
          <a:gradFill>
            <a:gsLst>
              <a:gs pos="0">
                <a:srgbClr val="7F2FBF"/>
              </a:gs>
              <a:gs pos="100000">
                <a:srgbClr val="1C0239"/>
              </a:gs>
            </a:gsLst>
            <a:lin ang="5400012" scaled="0"/>
          </a:gradFill>
          <a:ln w="12700">
            <a:miter lim="400000"/>
          </a:ln>
        </p:spPr>
      </p:pic>
      <p:sp>
        <p:nvSpPr>
          <p:cNvPr id="139" name="Google Shape;90;p15"/>
          <p:cNvSpPr txBox="1">
            <a:spLocks noGrp="1"/>
          </p:cNvSpPr>
          <p:nvPr>
            <p:ph type="title"/>
          </p:nvPr>
        </p:nvSpPr>
        <p:spPr>
          <a:xfrm>
            <a:off x="319841" y="1873945"/>
            <a:ext cx="6512292" cy="276044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rPr lang="pl-PL" b="1" dirty="0">
                <a:latin typeface="+mj-lt"/>
              </a:rPr>
              <a:t>Assistant </a:t>
            </a:r>
            <a:r>
              <a:rPr lang="pl-PL" b="1" dirty="0" err="1">
                <a:latin typeface="+mj-lt"/>
              </a:rPr>
              <a:t>Professor</a:t>
            </a:r>
            <a:r>
              <a:rPr lang="pl-PL" b="1" dirty="0">
                <a:latin typeface="+mj-lt"/>
              </a:rPr>
              <a:t> </a:t>
            </a:r>
            <a:r>
              <a:rPr lang="pl-PL" dirty="0">
                <a:latin typeface="+mj-lt"/>
              </a:rPr>
              <a:t>— SGH </a:t>
            </a:r>
            <a:r>
              <a:rPr lang="pl-PL" dirty="0" err="1">
                <a:latin typeface="+mj-lt"/>
              </a:rPr>
              <a:t>Warsaw</a:t>
            </a:r>
            <a:r>
              <a:rPr lang="pl-PL" dirty="0">
                <a:latin typeface="+mj-lt"/>
              </a:rPr>
              <a:t> School of </a:t>
            </a:r>
            <a:r>
              <a:rPr lang="pl-PL" dirty="0" err="1">
                <a:latin typeface="+mj-lt"/>
              </a:rPr>
              <a:t>Economics</a:t>
            </a:r>
            <a:r>
              <a:rPr lang="pl-PL" dirty="0">
                <a:latin typeface="+mj-lt"/>
              </a:rPr>
              <a:t> </a:t>
            </a:r>
            <a:br>
              <a:rPr lang="pl-PL" dirty="0">
                <a:latin typeface="+mj-lt"/>
              </a:rPr>
            </a:br>
            <a:r>
              <a:rPr lang="pl-PL" b="1" dirty="0">
                <a:latin typeface="+mj-lt"/>
              </a:rPr>
              <a:t>Quantum Machine Learning </a:t>
            </a:r>
            <a:r>
              <a:rPr lang="pl-PL" b="1" dirty="0" err="1">
                <a:latin typeface="+mj-lt"/>
              </a:rPr>
              <a:t>Engineer</a:t>
            </a:r>
            <a:r>
              <a:rPr lang="pl-PL" b="1" dirty="0">
                <a:latin typeface="+mj-lt"/>
              </a:rPr>
              <a:t> </a:t>
            </a:r>
            <a:r>
              <a:rPr lang="pl-PL" dirty="0">
                <a:latin typeface="+mj-lt"/>
              </a:rPr>
              <a:t>— </a:t>
            </a:r>
            <a:r>
              <a:rPr lang="pl-PL" dirty="0" err="1">
                <a:latin typeface="+mj-lt"/>
              </a:rPr>
              <a:t>finQbit</a:t>
            </a:r>
            <a:r>
              <a:rPr lang="pl-PL" dirty="0">
                <a:latin typeface="+mj-lt"/>
              </a:rPr>
              <a:t> </a:t>
            </a:r>
            <a:br>
              <a:rPr lang="pl-PL" dirty="0">
                <a:latin typeface="+mj-lt"/>
              </a:rPr>
            </a:br>
            <a:r>
              <a:rPr lang="pl-PL" dirty="0" err="1">
                <a:latin typeface="+mj-lt"/>
              </a:rPr>
              <a:t>Research</a:t>
            </a:r>
            <a:r>
              <a:rPr lang="pl-PL" dirty="0">
                <a:latin typeface="+mj-lt"/>
              </a:rPr>
              <a:t> </a:t>
            </a:r>
            <a:r>
              <a:rPr lang="pl-PL" dirty="0" err="1">
                <a:latin typeface="+mj-lt"/>
              </a:rPr>
              <a:t>focus</a:t>
            </a:r>
            <a:r>
              <a:rPr lang="pl-PL" dirty="0">
                <a:latin typeface="+mj-lt"/>
              </a:rPr>
              <a:t>: data </a:t>
            </a:r>
            <a:r>
              <a:rPr lang="pl-PL" dirty="0" err="1">
                <a:latin typeface="+mj-lt"/>
              </a:rPr>
              <a:t>analysis</a:t>
            </a:r>
            <a:r>
              <a:rPr lang="pl-PL" dirty="0">
                <a:latin typeface="+mj-lt"/>
              </a:rPr>
              <a:t>, quantum </a:t>
            </a:r>
            <a:r>
              <a:rPr lang="pl-PL" dirty="0" err="1">
                <a:latin typeface="+mj-lt"/>
              </a:rPr>
              <a:t>machine</a:t>
            </a:r>
            <a:r>
              <a:rPr lang="pl-PL" dirty="0">
                <a:latin typeface="+mj-lt"/>
              </a:rPr>
              <a:t> learning, and </a:t>
            </a:r>
            <a:r>
              <a:rPr lang="pl-PL" dirty="0" err="1">
                <a:latin typeface="+mj-lt"/>
              </a:rPr>
              <a:t>mathematical</a:t>
            </a:r>
            <a:r>
              <a:rPr lang="pl-PL" dirty="0">
                <a:latin typeface="+mj-lt"/>
              </a:rPr>
              <a:t> </a:t>
            </a:r>
            <a:r>
              <a:rPr lang="pl-PL" dirty="0" err="1">
                <a:latin typeface="+mj-lt"/>
              </a:rPr>
              <a:t>foundations</a:t>
            </a:r>
            <a:r>
              <a:rPr lang="pl-PL" dirty="0">
                <a:latin typeface="+mj-lt"/>
              </a:rPr>
              <a:t> of QM. Author of the QIFT </a:t>
            </a:r>
            <a:r>
              <a:rPr lang="pl-PL" dirty="0" err="1">
                <a:latin typeface="+mj-lt"/>
              </a:rPr>
              <a:t>framework</a:t>
            </a:r>
            <a:r>
              <a:rPr lang="pl-PL" dirty="0">
                <a:latin typeface="+mj-lt"/>
              </a:rPr>
              <a:t> </a:t>
            </a:r>
            <a:r>
              <a:rPr lang="pl-PL" dirty="0" err="1">
                <a:latin typeface="+mj-lt"/>
              </a:rPr>
              <a:t>bridging</a:t>
            </a:r>
            <a:r>
              <a:rPr lang="pl-PL" dirty="0">
                <a:latin typeface="+mj-lt"/>
              </a:rPr>
              <a:t> non-</a:t>
            </a:r>
            <a:r>
              <a:rPr lang="pl-PL" dirty="0" err="1">
                <a:latin typeface="+mj-lt"/>
              </a:rPr>
              <a:t>commutative</a:t>
            </a:r>
            <a:r>
              <a:rPr lang="pl-PL" dirty="0">
                <a:latin typeface="+mj-lt"/>
              </a:rPr>
              <a:t> quantum </a:t>
            </a:r>
            <a:r>
              <a:rPr lang="pl-PL" dirty="0" err="1">
                <a:latin typeface="+mj-lt"/>
              </a:rPr>
              <a:t>formalism</a:t>
            </a:r>
            <a:r>
              <a:rPr lang="pl-PL" dirty="0">
                <a:latin typeface="+mj-lt"/>
              </a:rPr>
              <a:t> with </a:t>
            </a:r>
            <a:r>
              <a:rPr lang="pl-PL" dirty="0" err="1">
                <a:latin typeface="+mj-lt"/>
              </a:rPr>
              <a:t>classical</a:t>
            </a:r>
            <a:r>
              <a:rPr lang="pl-PL" dirty="0">
                <a:latin typeface="+mj-lt"/>
              </a:rPr>
              <a:t> data </a:t>
            </a:r>
            <a:r>
              <a:rPr lang="pl-PL" dirty="0" err="1">
                <a:latin typeface="+mj-lt"/>
              </a:rPr>
              <a:t>analysis</a:t>
            </a:r>
            <a:r>
              <a:rPr lang="pl-PL" dirty="0">
                <a:latin typeface="+mj-lt"/>
              </a:rPr>
              <a:t>.</a:t>
            </a:r>
            <a:br>
              <a:rPr lang="pl-PL" dirty="0">
                <a:latin typeface="+mj-lt"/>
              </a:rPr>
            </a:br>
            <a:r>
              <a:rPr lang="pl-PL" dirty="0" err="1">
                <a:latin typeface="+mj-lt"/>
              </a:rPr>
              <a:t>Member</a:t>
            </a:r>
            <a:r>
              <a:rPr lang="pl-PL" dirty="0">
                <a:latin typeface="+mj-lt"/>
              </a:rPr>
              <a:t> of:        The Quantum Finance </a:t>
            </a:r>
            <a:r>
              <a:rPr lang="pl-PL" dirty="0" err="1">
                <a:latin typeface="+mj-lt"/>
              </a:rPr>
              <a:t>Boardroom</a:t>
            </a:r>
            <a:r>
              <a:rPr lang="pl-PL" dirty="0">
                <a:latin typeface="+mj-lt"/>
              </a:rPr>
              <a:t>, </a:t>
            </a:r>
            <a:r>
              <a:rPr lang="pl-PL" dirty="0" err="1">
                <a:latin typeface="+mj-lt"/>
              </a:rPr>
              <a:t>QPoland</a:t>
            </a:r>
            <a:endParaRPr lang="pl-PL" dirty="0">
              <a:latin typeface="+mj-lt"/>
            </a:endParaRPr>
          </a:p>
        </p:txBody>
      </p:sp>
      <p:sp>
        <p:nvSpPr>
          <p:cNvPr id="141" name="Google Shape;92;p15"/>
          <p:cNvSpPr/>
          <p:nvPr/>
        </p:nvSpPr>
        <p:spPr>
          <a:xfrm flipH="1" flipV="1">
            <a:off x="1191355" y="3949247"/>
            <a:ext cx="3650467" cy="119425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Google Shape;93;p15"/>
          <p:cNvSpPr/>
          <p:nvPr/>
        </p:nvSpPr>
        <p:spPr>
          <a:xfrm flipH="1">
            <a:off x="0" y="3185410"/>
            <a:ext cx="9031574" cy="130259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143" name="Google Shape;94;p15"/>
          <p:cNvSpPr txBox="1"/>
          <p:nvPr/>
        </p:nvSpPr>
        <p:spPr>
          <a:xfrm>
            <a:off x="436720" y="1169477"/>
            <a:ext cx="4546302" cy="70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fontScale="92500"/>
          </a:bodyPr>
          <a:lstStyle>
            <a:lvl1pPr defTabSz="905255">
              <a:defRPr sz="3564">
                <a:solidFill>
                  <a:srgbClr val="FCB425"/>
                </a:solidFill>
              </a:defRPr>
            </a:lvl1pPr>
          </a:lstStyle>
          <a:p>
            <a:r>
              <a:rPr lang="pl-PL" dirty="0"/>
              <a:t>Sebastian Zając, </a:t>
            </a:r>
            <a:r>
              <a:rPr lang="pl-PL" dirty="0" err="1"/>
              <a:t>PhD</a:t>
            </a:r>
            <a:endParaRPr dirty="0"/>
          </a:p>
        </p:txBody>
      </p:sp>
      <p:sp>
        <p:nvSpPr>
          <p:cNvPr id="144" name="Google Shape;96;p15"/>
          <p:cNvSpPr/>
          <p:nvPr/>
        </p:nvSpPr>
        <p:spPr>
          <a:xfrm flipH="1" flipV="1">
            <a:off x="6387423" y="-1"/>
            <a:ext cx="2895677" cy="409725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5" name="Google Shape;97;p15"/>
          <p:cNvSpPr/>
          <p:nvPr/>
        </p:nvSpPr>
        <p:spPr>
          <a:xfrm>
            <a:off x="2593024" y="3949248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46" name="Google Shape;98;p15"/>
          <p:cNvSpPr/>
          <p:nvPr/>
        </p:nvSpPr>
        <p:spPr>
          <a:xfrm>
            <a:off x="8405477" y="2823448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7BFBB4D8-0045-19BA-0819-1D81A7C59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282" y="1019838"/>
            <a:ext cx="1904104" cy="3385073"/>
          </a:xfrm>
          <a:prstGeom prst="rect">
            <a:avLst/>
          </a:prstGeom>
        </p:spPr>
      </p:pic>
      <p:sp>
        <p:nvSpPr>
          <p:cNvPr id="5" name="Google Shape;145;p19">
            <a:extLst>
              <a:ext uri="{FF2B5EF4-FFF2-40B4-BE49-F238E27FC236}">
                <a16:creationId xmlns:a16="http://schemas.microsoft.com/office/drawing/2014/main" id="{82823FB0-EFE4-0673-662D-C6CC6A866E59}"/>
              </a:ext>
            </a:extLst>
          </p:cNvPr>
          <p:cNvSpPr txBox="1"/>
          <p:nvPr/>
        </p:nvSpPr>
        <p:spPr>
          <a:xfrm>
            <a:off x="3002772" y="224802"/>
            <a:ext cx="800700" cy="5694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5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f(Q)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46;p19">
            <a:extLst>
              <a:ext uri="{FF2B5EF4-FFF2-40B4-BE49-F238E27FC236}">
                <a16:creationId xmlns:a16="http://schemas.microsoft.com/office/drawing/2014/main" id="{097C03C1-E454-7E1A-8B8B-9A4C0F773CAF}"/>
              </a:ext>
            </a:extLst>
          </p:cNvPr>
          <p:cNvSpPr txBox="1"/>
          <p:nvPr/>
        </p:nvSpPr>
        <p:spPr>
          <a:xfrm>
            <a:off x="1841122" y="390752"/>
            <a:ext cx="31419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 dirty="0" err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finQbit</a:t>
            </a:r>
            <a:endParaRPr sz="1600" b="1" i="0" u="none" strike="noStrike" cap="none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C41E7B6-AA51-61D3-AB0C-AEFAE10C9F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030" y="3384202"/>
            <a:ext cx="273014" cy="3020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magnifics_upscale-precision-we4uFarY0KTxXDoKVCcB-muwss_Abstract_digitally_generated_artwork_wide_cinematic_compo_8be46f49-319f-47a2-9a12-f2b9eaf211d8.pngGoogle Shape;104;p16" descr="magnifics_upscale-precision-we4uFarY0KTxXDoKVCcB-muwss_Abstract_digitally_generated_artwork_wide_cinematic_compo_8be46f49-319f-47a2-9a12-f2b9eaf211d8.pngGoogle Shape;104;p16"/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-15910" y="0"/>
            <a:ext cx="9175835" cy="5143499"/>
          </a:xfrm>
          <a:prstGeom prst="rect">
            <a:avLst/>
          </a:prstGeom>
          <a:ln w="12700">
            <a:miter lim="400000"/>
          </a:ln>
          <a:effectLst>
            <a:reflection endPos="40000" dir="5400000" sy="-100000" algn="bl" rotWithShape="0"/>
          </a:effectLst>
        </p:spPr>
      </p:pic>
      <p:sp>
        <p:nvSpPr>
          <p:cNvPr id="151" name="Google Shape;105;p16"/>
          <p:cNvSpPr txBox="1">
            <a:spLocks noGrp="1"/>
          </p:cNvSpPr>
          <p:nvPr>
            <p:ph type="title"/>
          </p:nvPr>
        </p:nvSpPr>
        <p:spPr>
          <a:xfrm>
            <a:off x="436725" y="845249"/>
            <a:ext cx="7587599" cy="17265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868680">
              <a:defRPr sz="5320">
                <a:solidFill>
                  <a:srgbClr val="1C0239"/>
                </a:solidFill>
              </a:defRPr>
            </a:pPr>
            <a:r>
              <a:rPr lang="pl-PL" dirty="0" err="1"/>
              <a:t>Why</a:t>
            </a:r>
            <a:r>
              <a:rPr lang="pl-PL" dirty="0"/>
              <a:t> Quantum for </a:t>
            </a:r>
            <a:r>
              <a:rPr lang="pl-PL" dirty="0" err="1"/>
              <a:t>Derivatives</a:t>
            </a:r>
            <a:r>
              <a:rPr lang="pl-PL" dirty="0"/>
              <a:t>? </a:t>
            </a:r>
            <a:endParaRPr dirty="0"/>
          </a:p>
        </p:txBody>
      </p:sp>
      <p:sp>
        <p:nvSpPr>
          <p:cNvPr id="152" name="Google Shape;106;p16"/>
          <p:cNvSpPr/>
          <p:nvPr/>
        </p:nvSpPr>
        <p:spPr>
          <a:xfrm>
            <a:off x="-22675" y="446007"/>
            <a:ext cx="9207601" cy="1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Google Shape;108;p16"/>
          <p:cNvSpPr/>
          <p:nvPr/>
        </p:nvSpPr>
        <p:spPr>
          <a:xfrm flipV="1">
            <a:off x="4942699" y="-25826"/>
            <a:ext cx="3526800" cy="5213102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5" name="Google Shape;109;p16"/>
          <p:cNvSpPr/>
          <p:nvPr/>
        </p:nvSpPr>
        <p:spPr>
          <a:xfrm flipV="1">
            <a:off x="1737674" y="2571750"/>
            <a:ext cx="6615902" cy="1621801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6" name="Google Shape;110;p16"/>
          <p:cNvSpPr/>
          <p:nvPr/>
        </p:nvSpPr>
        <p:spPr>
          <a:xfrm>
            <a:off x="8127259" y="418842"/>
            <a:ext cx="54301" cy="54301"/>
          </a:xfrm>
          <a:prstGeom prst="ellipse">
            <a:avLst/>
          </a:prstGeom>
          <a:solidFill>
            <a:srgbClr val="1C023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57" name="Google Shape;111;p16"/>
          <p:cNvSpPr/>
          <p:nvPr/>
        </p:nvSpPr>
        <p:spPr>
          <a:xfrm>
            <a:off x="6359759" y="3026941"/>
            <a:ext cx="54301" cy="54301"/>
          </a:xfrm>
          <a:prstGeom prst="ellipse">
            <a:avLst/>
          </a:prstGeom>
          <a:solidFill>
            <a:srgbClr val="1C023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F2FBF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magnifics_upscale-precision-we4uFarY0KTxXDoKVCcB-muwss_Abstract_digitally_generated_artwork_wide_cinematic_compo_8be46f49-319f-47a2-9a12-f2b9eaf211d8.pngGoogle Shape;116;p17" descr="magnifics_upscale-precision-we4uFarY0KTxXDoKVCcB-muwss_Abstract_digitally_generated_artwork_wide_cinematic_compo_8be46f49-319f-47a2-9a12-f2b9eaf211d8.pngGoogle Shape;116;p17"/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>
          <a:xfrm flipH="1">
            <a:off x="-15910" y="0"/>
            <a:ext cx="9175835" cy="5143499"/>
          </a:xfrm>
          <a:prstGeom prst="rect">
            <a:avLst/>
          </a:prstGeom>
          <a:ln w="12700">
            <a:miter lim="400000"/>
          </a:ln>
          <a:effectLst>
            <a:reflection endPos="40000" dir="5400000" sy="-100000" algn="bl" rotWithShape="0"/>
          </a:effectLst>
        </p:spPr>
      </p:pic>
      <p:sp>
        <p:nvSpPr>
          <p:cNvPr id="161" name="Google Shape;118;p17"/>
          <p:cNvSpPr txBox="1">
            <a:spLocks noGrp="1"/>
          </p:cNvSpPr>
          <p:nvPr>
            <p:ph type="body" sz="quarter" idx="1"/>
          </p:nvPr>
        </p:nvSpPr>
        <p:spPr>
          <a:xfrm>
            <a:off x="436725" y="71949"/>
            <a:ext cx="1893000" cy="22860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defTabSz="365760">
              <a:buSzTx/>
              <a:buNone/>
              <a:defRPr sz="320">
                <a:solidFill>
                  <a:srgbClr val="FFFFFF"/>
                </a:solidFill>
              </a:defRPr>
            </a:lvl1pPr>
          </a:lstStyle>
          <a:p>
            <a:r>
              <a:t>finQbit</a:t>
            </a:r>
          </a:p>
        </p:txBody>
      </p:sp>
      <p:sp>
        <p:nvSpPr>
          <p:cNvPr id="162" name="Google Shape;119;p17"/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/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/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/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/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817C5A3-8F11-B5F5-1889-8FF0DCB0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l-PL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BD379701-1B2A-8307-DFD8-049C4E354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35451" cy="516285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DB9F-0717-1303-830D-5AC51AF5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magnifics_upscale-precision-we4uFarY0KTxXDoKVCcB-muwss_Abstract_digitally_generated_artwork_wide_cinematic_compo_8be46f49-319f-47a2-9a12-f2b9eaf211d8.pngGoogle Shape;89;p15" descr="magnifics_upscale-precision-we4uFarY0KTxXDoKVCcB-muwss_Abstract_digitally_generated_artwork_wide_cinematic_compo_8be46f49-319f-47a2-9a12-f2b9eaf211d8.pngGoogle Shape;89;p15">
            <a:extLst>
              <a:ext uri="{FF2B5EF4-FFF2-40B4-BE49-F238E27FC236}">
                <a16:creationId xmlns:a16="http://schemas.microsoft.com/office/drawing/2014/main" id="{8EC04859-2316-C000-2D19-14F9A62A31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flipH="1">
            <a:off x="-15927" y="-1"/>
            <a:ext cx="9175854" cy="5191464"/>
          </a:xfrm>
          <a:prstGeom prst="rect">
            <a:avLst/>
          </a:prstGeom>
          <a:gradFill>
            <a:gsLst>
              <a:gs pos="0">
                <a:srgbClr val="7F2FBF"/>
              </a:gs>
              <a:gs pos="100000">
                <a:srgbClr val="1C0239"/>
              </a:gs>
            </a:gsLst>
            <a:lin ang="5400012" scaled="0"/>
          </a:gradFill>
          <a:ln w="12700">
            <a:miter lim="400000"/>
          </a:ln>
        </p:spPr>
      </p:pic>
      <p:sp>
        <p:nvSpPr>
          <p:cNvPr id="141" name="Google Shape;92;p15">
            <a:extLst>
              <a:ext uri="{FF2B5EF4-FFF2-40B4-BE49-F238E27FC236}">
                <a16:creationId xmlns:a16="http://schemas.microsoft.com/office/drawing/2014/main" id="{A2EB900D-CFD4-7F57-CEA7-54E561A01A55}"/>
              </a:ext>
            </a:extLst>
          </p:cNvPr>
          <p:cNvSpPr/>
          <p:nvPr/>
        </p:nvSpPr>
        <p:spPr>
          <a:xfrm flipH="1" flipV="1">
            <a:off x="1191355" y="3949247"/>
            <a:ext cx="3650467" cy="119425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Google Shape;93;p15">
            <a:extLst>
              <a:ext uri="{FF2B5EF4-FFF2-40B4-BE49-F238E27FC236}">
                <a16:creationId xmlns:a16="http://schemas.microsoft.com/office/drawing/2014/main" id="{00E75A39-6A79-055C-B78A-68DAAF5144F8}"/>
              </a:ext>
            </a:extLst>
          </p:cNvPr>
          <p:cNvSpPr/>
          <p:nvPr/>
        </p:nvSpPr>
        <p:spPr>
          <a:xfrm flipH="1">
            <a:off x="0" y="3185410"/>
            <a:ext cx="9031574" cy="130259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143" name="Google Shape;94;p15">
            <a:extLst>
              <a:ext uri="{FF2B5EF4-FFF2-40B4-BE49-F238E27FC236}">
                <a16:creationId xmlns:a16="http://schemas.microsoft.com/office/drawing/2014/main" id="{4BF09C4F-E323-7835-80BD-19870A3C4A99}"/>
              </a:ext>
            </a:extLst>
          </p:cNvPr>
          <p:cNvSpPr txBox="1"/>
          <p:nvPr/>
        </p:nvSpPr>
        <p:spPr>
          <a:xfrm>
            <a:off x="1329159" y="127315"/>
            <a:ext cx="4546302" cy="70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905255">
              <a:defRPr sz="3564">
                <a:solidFill>
                  <a:srgbClr val="FCB425"/>
                </a:solidFill>
              </a:defRPr>
            </a:lvl1pPr>
          </a:lstStyle>
          <a:p>
            <a:r>
              <a:rPr lang="pl-PL" dirty="0" err="1"/>
              <a:t>Classical</a:t>
            </a:r>
            <a:r>
              <a:rPr lang="pl-PL" dirty="0"/>
              <a:t> </a:t>
            </a:r>
            <a:r>
              <a:rPr lang="pl-PL" dirty="0" err="1"/>
              <a:t>Models</a:t>
            </a:r>
            <a:endParaRPr dirty="0"/>
          </a:p>
        </p:txBody>
      </p:sp>
      <p:sp>
        <p:nvSpPr>
          <p:cNvPr id="144" name="Google Shape;96;p15">
            <a:extLst>
              <a:ext uri="{FF2B5EF4-FFF2-40B4-BE49-F238E27FC236}">
                <a16:creationId xmlns:a16="http://schemas.microsoft.com/office/drawing/2014/main" id="{9FCE7337-EED2-1224-EDF7-DEE6B26984D1}"/>
              </a:ext>
            </a:extLst>
          </p:cNvPr>
          <p:cNvSpPr/>
          <p:nvPr/>
        </p:nvSpPr>
        <p:spPr>
          <a:xfrm flipH="1" flipV="1">
            <a:off x="6387423" y="-1"/>
            <a:ext cx="2895677" cy="409725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5" name="Google Shape;97;p15">
            <a:extLst>
              <a:ext uri="{FF2B5EF4-FFF2-40B4-BE49-F238E27FC236}">
                <a16:creationId xmlns:a16="http://schemas.microsoft.com/office/drawing/2014/main" id="{FDB218C8-33DB-2F03-36C2-0329A26B4CBA}"/>
              </a:ext>
            </a:extLst>
          </p:cNvPr>
          <p:cNvSpPr/>
          <p:nvPr/>
        </p:nvSpPr>
        <p:spPr>
          <a:xfrm>
            <a:off x="2593024" y="3949248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46" name="Google Shape;98;p15">
            <a:extLst>
              <a:ext uri="{FF2B5EF4-FFF2-40B4-BE49-F238E27FC236}">
                <a16:creationId xmlns:a16="http://schemas.microsoft.com/office/drawing/2014/main" id="{20F9A61E-201D-32BF-2925-812299C6724E}"/>
              </a:ext>
            </a:extLst>
          </p:cNvPr>
          <p:cNvSpPr/>
          <p:nvPr/>
        </p:nvSpPr>
        <p:spPr>
          <a:xfrm>
            <a:off x="8405477" y="2823448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7164A0E-B4C1-C7C4-4AC9-EDB70C0C3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41" y="1156500"/>
            <a:ext cx="4958955" cy="2401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90;p15">
                <a:extLst>
                  <a:ext uri="{FF2B5EF4-FFF2-40B4-BE49-F238E27FC236}">
                    <a16:creationId xmlns:a16="http://schemas.microsoft.com/office/drawing/2014/main" id="{A091E24D-DCEF-A9F8-3BE5-4F238C0AFC59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244890" y="797940"/>
                <a:ext cx="3847139" cy="30387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r>
                  <a:rPr lang="pl-PL" sz="1800" b="1" dirty="0"/>
                  <a:t>Data generator:</a:t>
                </a:r>
                <a:br>
                  <a:rPr lang="pl-PL" sz="1800" b="1" dirty="0"/>
                </a:br>
                <a:br>
                  <a:rPr lang="pl-PL" sz="1800" b="1" dirty="0"/>
                </a:br>
                <a:r>
                  <a:rPr lang="pl-PL" sz="1400" dirty="0" err="1"/>
                  <a:t>Moneyness</a:t>
                </a:r>
                <a:r>
                  <a:rPr lang="pl-PL" sz="1400" dirty="0"/>
                  <a:t> </a:t>
                </a:r>
                <a14:m>
                  <m:oMath xmlns:m="http://schemas.openxmlformats.org/officeDocument/2006/math">
                    <m:r>
                      <a:rPr lang="pl-PL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l-PL" sz="14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l-PL" sz="1400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pl-PL" sz="1400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1400" dirty="0"/>
                  <a:t>               [ 0.8, 1.2  ]</a:t>
                </a:r>
                <a:br>
                  <a:rPr lang="pl-PL" sz="1400" dirty="0"/>
                </a:br>
                <a:r>
                  <a:rPr lang="pl-PL" sz="1400" dirty="0"/>
                  <a:t>Time to </a:t>
                </a:r>
                <a:r>
                  <a:rPr lang="pl-PL" sz="1400" dirty="0" err="1"/>
                  <a:t>Maturity</a:t>
                </a:r>
                <a:r>
                  <a:rPr lang="pl-PL" sz="1400" dirty="0"/>
                  <a:t> </a:t>
                </a:r>
                <a14:m>
                  <m:oMath xmlns:m="http://schemas.openxmlformats.org/officeDocument/2006/math">
                    <m:r>
                      <a:rPr lang="pl-PL" sz="1400"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l-PL" sz="14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1400" dirty="0"/>
                  <a:t>                 [ 0.2, 1.1  ]</a:t>
                </a:r>
                <a:br>
                  <a:rPr lang="pl-PL" sz="1400" dirty="0"/>
                </a:br>
                <a:r>
                  <a:rPr lang="pl-PL" sz="1400" dirty="0" err="1"/>
                  <a:t>Risk</a:t>
                </a:r>
                <a:r>
                  <a:rPr lang="pl-PL" sz="1400" dirty="0"/>
                  <a:t> </a:t>
                </a:r>
                <a:r>
                  <a:rPr lang="pl-PL" sz="1400" dirty="0" err="1"/>
                  <a:t>free</a:t>
                </a:r>
                <a:r>
                  <a:rPr lang="pl-PL" sz="1400" dirty="0"/>
                  <a:t> </a:t>
                </a:r>
                <a:r>
                  <a:rPr lang="pl-PL" sz="1400" dirty="0" err="1"/>
                  <a:t>Interest</a:t>
                </a:r>
                <a:r>
                  <a:rPr lang="pl-PL" sz="1400" dirty="0"/>
                  <a:t> </a:t>
                </a:r>
                <a:r>
                  <a:rPr lang="pl-PL" sz="1400" dirty="0" err="1"/>
                  <a:t>Rate</a:t>
                </a:r>
                <a:r>
                  <a:rPr lang="pl-PL" sz="1400" dirty="0"/>
                  <a:t> </a:t>
                </a:r>
                <a14:m>
                  <m:oMath xmlns:m="http://schemas.openxmlformats.org/officeDocument/2006/math">
                    <m:r>
                      <a:rPr lang="pl-PL" sz="1400" b="0" i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m:rPr>
                        <m:sty m:val="p"/>
                      </m:rPr>
                      <a:rPr lang="pl-PL" sz="1400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pl-PL" sz="1400" dirty="0"/>
                  <a:t>      [ 0.02, 0.1 ]</a:t>
                </a:r>
                <a:br>
                  <a:rPr lang="pl-PL" sz="1400" dirty="0"/>
                </a:br>
                <a:r>
                  <a:rPr lang="pl-PL" sz="1400" dirty="0" err="1"/>
                  <a:t>Volatility</a:t>
                </a:r>
                <a:r>
                  <a:rPr lang="pl-PL" sz="1400" dirty="0"/>
                  <a:t> </a:t>
                </a:r>
                <a14:m>
                  <m:oMath xmlns:m="http://schemas.openxmlformats.org/officeDocument/2006/math">
                    <m:r>
                      <a:rPr lang="pl-PL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l-PL" sz="1400" b="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pl-PL" sz="1400" dirty="0"/>
                  <a:t>                             [ 0.01, 1.0 ]</a:t>
                </a:r>
                <a:br>
                  <a:rPr lang="pl-PL" sz="1400" dirty="0"/>
                </a:br>
                <a:br>
                  <a:rPr lang="pl-PL" sz="1400" dirty="0"/>
                </a:br>
                <a:r>
                  <a:rPr lang="pl-PL" sz="1400" dirty="0" err="1"/>
                  <a:t>Price</a:t>
                </a:r>
                <a:r>
                  <a:rPr lang="pl-PL" sz="1400" dirty="0"/>
                  <a:t> BSM </a:t>
                </a:r>
                <a14:m>
                  <m:oMath xmlns:m="http://schemas.openxmlformats.org/officeDocument/2006/math"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l-P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l-PL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l-PL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l-PL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pl-PL" sz="1400" b="0" i="1" smtClean="0">
                            <a:latin typeface="Cambria Math" panose="02040503050406030204" pitchFamily="18" charset="0"/>
                          </a:rPr>
                          <m:t>rT</m:t>
                        </m:r>
                        <m:r>
                          <a:rPr lang="pl-P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l-P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pl-PL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br>
                  <a:rPr lang="pl-PL" sz="1800" b="1" dirty="0"/>
                </a:br>
                <a:br>
                  <a:rPr lang="pl-PL" sz="1800" b="1" dirty="0"/>
                </a:br>
                <a:r>
                  <a:rPr lang="pl-PL" sz="1200" dirty="0"/>
                  <a:t>Train set: 500, Test set 100*</a:t>
                </a:r>
                <a:br>
                  <a:rPr lang="pl-PL" sz="1800" b="1" dirty="0"/>
                </a:br>
                <a:endParaRPr lang="pl-PL" sz="1800" dirty="0"/>
              </a:p>
            </p:txBody>
          </p:sp>
        </mc:Choice>
        <mc:Fallback xmlns="">
          <p:sp>
            <p:nvSpPr>
              <p:cNvPr id="11" name="Google Shape;90;p15">
                <a:extLst>
                  <a:ext uri="{FF2B5EF4-FFF2-40B4-BE49-F238E27FC236}">
                    <a16:creationId xmlns:a16="http://schemas.microsoft.com/office/drawing/2014/main" id="{A091E24D-DCEF-A9F8-3BE5-4F238C0AFC5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4890" y="797940"/>
                <a:ext cx="3847139" cy="3038765"/>
              </a:xfrm>
              <a:prstGeom prst="rect">
                <a:avLst/>
              </a:prstGeom>
              <a:blipFill>
                <a:blip r:embed="rId5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Obraz 12">
            <a:extLst>
              <a:ext uri="{FF2B5EF4-FFF2-40B4-BE49-F238E27FC236}">
                <a16:creationId xmlns:a16="http://schemas.microsoft.com/office/drawing/2014/main" id="{D131A942-9D75-F97E-1DDF-8D71FC3DD1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619" y="3844157"/>
            <a:ext cx="4430071" cy="890583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6C63A53D-3BB1-C982-7DC5-ACA55F6DF8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1" y="3846876"/>
            <a:ext cx="3052030" cy="858593"/>
          </a:xfrm>
          <a:prstGeom prst="rect">
            <a:avLst/>
          </a:prstGeom>
        </p:spPr>
      </p:pic>
      <p:sp>
        <p:nvSpPr>
          <p:cNvPr id="16" name="Google Shape;145;p19">
            <a:extLst>
              <a:ext uri="{FF2B5EF4-FFF2-40B4-BE49-F238E27FC236}">
                <a16:creationId xmlns:a16="http://schemas.microsoft.com/office/drawing/2014/main" id="{EB0FFA20-BC27-BBE9-82DB-5C3DCAD60A68}"/>
              </a:ext>
            </a:extLst>
          </p:cNvPr>
          <p:cNvSpPr txBox="1"/>
          <p:nvPr/>
        </p:nvSpPr>
        <p:spPr>
          <a:xfrm>
            <a:off x="8272455" y="264383"/>
            <a:ext cx="555109" cy="430857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f(Q)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86749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1034-8D1C-A45C-7124-7711CCDB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magnifics_upscale-precision-we4uFarY0KTxXDoKVCcB-muwss_Abstract_digitally_generated_artwork_wide_cinematic_compo_8be46f49-319f-47a2-9a12-f2b9eaf211d8.pngGoogle Shape;89;p15" descr="magnifics_upscale-precision-we4uFarY0KTxXDoKVCcB-muwss_Abstract_digitally_generated_artwork_wide_cinematic_compo_8be46f49-319f-47a2-9a12-f2b9eaf211d8.pngGoogle Shape;89;p15">
            <a:extLst>
              <a:ext uri="{FF2B5EF4-FFF2-40B4-BE49-F238E27FC236}">
                <a16:creationId xmlns:a16="http://schemas.microsoft.com/office/drawing/2014/main" id="{AB9A7E4A-BFD5-66DE-5F94-F3BDD1198E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flipH="1">
            <a:off x="-15927" y="-1"/>
            <a:ext cx="9175854" cy="5191464"/>
          </a:xfrm>
          <a:prstGeom prst="rect">
            <a:avLst/>
          </a:prstGeom>
          <a:gradFill>
            <a:gsLst>
              <a:gs pos="0">
                <a:srgbClr val="7F2FBF"/>
              </a:gs>
              <a:gs pos="100000">
                <a:srgbClr val="1C0239"/>
              </a:gs>
            </a:gsLst>
            <a:lin ang="5400012" scaled="0"/>
          </a:gradFill>
          <a:ln w="12700">
            <a:miter lim="400000"/>
          </a:ln>
        </p:spPr>
      </p:pic>
      <p:sp>
        <p:nvSpPr>
          <p:cNvPr id="141" name="Google Shape;92;p15">
            <a:extLst>
              <a:ext uri="{FF2B5EF4-FFF2-40B4-BE49-F238E27FC236}">
                <a16:creationId xmlns:a16="http://schemas.microsoft.com/office/drawing/2014/main" id="{C5F42E7C-CD5D-1908-2395-173029C607A3}"/>
              </a:ext>
            </a:extLst>
          </p:cNvPr>
          <p:cNvSpPr/>
          <p:nvPr/>
        </p:nvSpPr>
        <p:spPr>
          <a:xfrm flipH="1" flipV="1">
            <a:off x="1191355" y="3949247"/>
            <a:ext cx="3650467" cy="119425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Google Shape;93;p15">
            <a:extLst>
              <a:ext uri="{FF2B5EF4-FFF2-40B4-BE49-F238E27FC236}">
                <a16:creationId xmlns:a16="http://schemas.microsoft.com/office/drawing/2014/main" id="{C3A92DC5-3422-5F9E-E29F-2FCCECF20124}"/>
              </a:ext>
            </a:extLst>
          </p:cNvPr>
          <p:cNvSpPr/>
          <p:nvPr/>
        </p:nvSpPr>
        <p:spPr>
          <a:xfrm flipH="1">
            <a:off x="0" y="3185410"/>
            <a:ext cx="9031574" cy="130259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143" name="Google Shape;94;p15">
            <a:extLst>
              <a:ext uri="{FF2B5EF4-FFF2-40B4-BE49-F238E27FC236}">
                <a16:creationId xmlns:a16="http://schemas.microsoft.com/office/drawing/2014/main" id="{5C8936E7-1CA0-FCD3-8C3B-A7B1512E9240}"/>
              </a:ext>
            </a:extLst>
          </p:cNvPr>
          <p:cNvSpPr txBox="1"/>
          <p:nvPr/>
        </p:nvSpPr>
        <p:spPr>
          <a:xfrm>
            <a:off x="1329159" y="127315"/>
            <a:ext cx="4546302" cy="70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905255">
              <a:defRPr sz="3564">
                <a:solidFill>
                  <a:srgbClr val="FCB425"/>
                </a:solidFill>
              </a:defRPr>
            </a:lvl1pPr>
          </a:lstStyle>
          <a:p>
            <a:r>
              <a:rPr lang="pl-PL" dirty="0"/>
              <a:t>Quantum NN </a:t>
            </a:r>
            <a:r>
              <a:rPr lang="pl-PL" dirty="0" err="1"/>
              <a:t>Models</a:t>
            </a:r>
            <a:endParaRPr dirty="0"/>
          </a:p>
        </p:txBody>
      </p:sp>
      <p:sp>
        <p:nvSpPr>
          <p:cNvPr id="144" name="Google Shape;96;p15">
            <a:extLst>
              <a:ext uri="{FF2B5EF4-FFF2-40B4-BE49-F238E27FC236}">
                <a16:creationId xmlns:a16="http://schemas.microsoft.com/office/drawing/2014/main" id="{8A4739DD-5D16-C08D-68F1-D6EA1BF1B072}"/>
              </a:ext>
            </a:extLst>
          </p:cNvPr>
          <p:cNvSpPr/>
          <p:nvPr/>
        </p:nvSpPr>
        <p:spPr>
          <a:xfrm flipH="1" flipV="1">
            <a:off x="6387423" y="-1"/>
            <a:ext cx="2895677" cy="409725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5" name="Google Shape;97;p15">
            <a:extLst>
              <a:ext uri="{FF2B5EF4-FFF2-40B4-BE49-F238E27FC236}">
                <a16:creationId xmlns:a16="http://schemas.microsoft.com/office/drawing/2014/main" id="{30045733-D080-5CF7-E68D-51A73A0F7EFA}"/>
              </a:ext>
            </a:extLst>
          </p:cNvPr>
          <p:cNvSpPr/>
          <p:nvPr/>
        </p:nvSpPr>
        <p:spPr>
          <a:xfrm>
            <a:off x="2593024" y="3949248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46" name="Google Shape;98;p15">
            <a:extLst>
              <a:ext uri="{FF2B5EF4-FFF2-40B4-BE49-F238E27FC236}">
                <a16:creationId xmlns:a16="http://schemas.microsoft.com/office/drawing/2014/main" id="{EE44DB1C-D5DE-1398-8E2A-834E80411778}"/>
              </a:ext>
            </a:extLst>
          </p:cNvPr>
          <p:cNvSpPr/>
          <p:nvPr/>
        </p:nvSpPr>
        <p:spPr>
          <a:xfrm>
            <a:off x="8405477" y="2823448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E074ECAE-5A76-53C6-E3DD-E4E70D7CE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890" y="797940"/>
            <a:ext cx="3847139" cy="3038765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rPr lang="pl-PL" sz="1800" b="1" dirty="0" err="1"/>
              <a:t>Default</a:t>
            </a:r>
            <a:r>
              <a:rPr lang="pl-PL" sz="1800" b="1" dirty="0"/>
              <a:t> quantum model:</a:t>
            </a:r>
            <a:br>
              <a:rPr lang="pl-PL" sz="1800" b="1" dirty="0"/>
            </a:br>
            <a:br>
              <a:rPr lang="pl-PL" sz="1800" b="1" dirty="0"/>
            </a:br>
            <a:br>
              <a:rPr lang="pl-PL" sz="1800" b="1" dirty="0"/>
            </a:br>
            <a:br>
              <a:rPr lang="pl-PL" sz="1800" b="1" dirty="0"/>
            </a:br>
            <a:br>
              <a:rPr lang="pl-PL" sz="1800" b="1" dirty="0"/>
            </a:br>
            <a:br>
              <a:rPr lang="pl-PL" sz="1800" b="1" dirty="0"/>
            </a:br>
            <a:br>
              <a:rPr lang="pl-PL" sz="1800" b="1" dirty="0"/>
            </a:br>
            <a:r>
              <a:rPr lang="pl-PL" sz="1800" b="1" dirty="0"/>
              <a:t>Fourier Re-</a:t>
            </a:r>
            <a:r>
              <a:rPr lang="pl-PL" sz="1800" b="1" dirty="0" err="1"/>
              <a:t>uploading</a:t>
            </a:r>
            <a:r>
              <a:rPr lang="pl-PL" sz="1800" b="1" dirty="0"/>
              <a:t>:</a:t>
            </a:r>
            <a:br>
              <a:rPr lang="pl-PL" sz="1800" b="1" dirty="0"/>
            </a:br>
            <a:br>
              <a:rPr lang="pl-PL" sz="1800" b="1" dirty="0"/>
            </a:br>
            <a:br>
              <a:rPr lang="pl-PL" sz="1400" dirty="0"/>
            </a:br>
            <a:br>
              <a:rPr lang="pl-PL" sz="1800" b="1" dirty="0"/>
            </a:br>
            <a:endParaRPr lang="pl-PL" sz="1800" dirty="0"/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FAA9910B-E372-8320-2599-9EA6866B5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465" y="1565174"/>
            <a:ext cx="4555952" cy="2277976"/>
          </a:xfrm>
          <a:prstGeom prst="rect">
            <a:avLst/>
          </a:prstGeom>
        </p:spPr>
      </p:pic>
      <p:sp>
        <p:nvSpPr>
          <p:cNvPr id="3" name="Google Shape;145;p19">
            <a:extLst>
              <a:ext uri="{FF2B5EF4-FFF2-40B4-BE49-F238E27FC236}">
                <a16:creationId xmlns:a16="http://schemas.microsoft.com/office/drawing/2014/main" id="{CB173A2D-67A5-022F-2688-C1DF692FCBB1}"/>
              </a:ext>
            </a:extLst>
          </p:cNvPr>
          <p:cNvSpPr txBox="1"/>
          <p:nvPr/>
        </p:nvSpPr>
        <p:spPr>
          <a:xfrm>
            <a:off x="8272455" y="264383"/>
            <a:ext cx="555109" cy="430857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f(Q)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2A978E8-2AC0-59CE-88D3-05457E71A8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36" y="1244144"/>
            <a:ext cx="1865423" cy="2407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7D12D4C4-AA4A-A401-BC9D-6089ED34C8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36" y="1558729"/>
            <a:ext cx="3847139" cy="89973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DD78CB4E-1A7B-C0B3-92D2-578BFB08D3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17" y="2912077"/>
            <a:ext cx="2868319" cy="225368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E7E934B6-BDE2-FE8F-F657-086608651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36" y="3433142"/>
            <a:ext cx="3847139" cy="882542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D06F5235-F4AF-6ABD-7C80-751A91D37B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63" y="2903179"/>
            <a:ext cx="921092" cy="23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620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F2FBF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emini-2.5-flash-image_Prosím_sprav_mi_rôzne_variácie_tohto_vizuálu._Zachovaj_farebnosť_len_zmeň_-2 (1).jpgGoogle Shape;141;p19" descr="gemini-2.5-flash-image_Prosím_sprav_mi_rôzne_variácie_tohto_vizuálu._Zachovaj_farebnosť_len_zmeň_-2 (1).jpgGoogle Shape;141;p19"/>
          <p:cNvPicPr>
            <a:picLocks noChangeAspect="1"/>
          </p:cNvPicPr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>
            <a:off x="-12670" y="-6426"/>
            <a:ext cx="91371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Google Shape;143;p19"/>
          <p:cNvSpPr/>
          <p:nvPr/>
        </p:nvSpPr>
        <p:spPr>
          <a:xfrm>
            <a:off x="3918175" y="-6426"/>
            <a:ext cx="3495901" cy="1898402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1" name="Google Shape;144;p19"/>
          <p:cNvSpPr/>
          <p:nvPr/>
        </p:nvSpPr>
        <p:spPr>
          <a:xfrm flipV="1">
            <a:off x="20850" y="869300"/>
            <a:ext cx="9137100" cy="17610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2" name="Google Shape;145;p19"/>
          <p:cNvSpPr txBox="1">
            <a:spLocks noGrp="1"/>
          </p:cNvSpPr>
          <p:nvPr>
            <p:ph type="title"/>
          </p:nvPr>
        </p:nvSpPr>
        <p:spPr>
          <a:xfrm>
            <a:off x="142875" y="3835961"/>
            <a:ext cx="2971950" cy="13905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just"/>
            <a:r>
              <a:rPr lang="pl-PL" sz="1200" dirty="0"/>
              <a:t>E</a:t>
            </a:r>
            <a:r>
              <a:rPr sz="1200" dirty="0"/>
              <a:t>ach qubit encodes 2 features via orthogonal Ry/Rx axes. 4 BSM inputs on just 2 qubits, maximizing information density per qubit.</a:t>
            </a:r>
          </a:p>
        </p:txBody>
      </p:sp>
      <p:sp>
        <p:nvSpPr>
          <p:cNvPr id="183" name="Google Shape;146;p19"/>
          <p:cNvSpPr txBox="1"/>
          <p:nvPr/>
        </p:nvSpPr>
        <p:spPr>
          <a:xfrm>
            <a:off x="3232950" y="3802791"/>
            <a:ext cx="2678100" cy="1074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just"/>
            <a:r>
              <a:rPr sz="1200" dirty="0"/>
              <a:t>Feature Permutation: feature pairs permuted across re-uploading layers to capture diverse inter-feature correlations..</a:t>
            </a:r>
          </a:p>
        </p:txBody>
      </p:sp>
      <p:sp>
        <p:nvSpPr>
          <p:cNvPr id="184" name="Google Shape;147;p19"/>
          <p:cNvSpPr txBox="1"/>
          <p:nvPr/>
        </p:nvSpPr>
        <p:spPr>
          <a:xfrm>
            <a:off x="6052234" y="3802791"/>
            <a:ext cx="2678100" cy="13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just"/>
            <a:r>
              <a:rPr sz="1200" dirty="0"/>
              <a:t>U(4) Compression: 8 CNOT gates compressed to single U(4) block via ML optimization. </a:t>
            </a:r>
          </a:p>
        </p:txBody>
      </p:sp>
      <p:sp>
        <p:nvSpPr>
          <p:cNvPr id="185" name="Google Shape;148;p19"/>
          <p:cNvSpPr/>
          <p:nvPr/>
        </p:nvSpPr>
        <p:spPr>
          <a:xfrm>
            <a:off x="493854" y="3268960"/>
            <a:ext cx="567001" cy="567001"/>
          </a:xfrm>
          <a:prstGeom prst="ellipse">
            <a:avLst/>
          </a:prstGeom>
          <a:solidFill>
            <a:srgbClr val="FFFFFF"/>
          </a:solidFill>
          <a:ln>
            <a:solidFill>
              <a:srgbClr val="FCB425"/>
            </a:solidFill>
          </a:ln>
        </p:spPr>
        <p:txBody>
          <a:bodyPr lIns="0" tIns="0" rIns="0" bIns="0" anchor="ctr"/>
          <a:lstStyle/>
          <a:p>
            <a:pPr algn="ctr">
              <a:defRPr sz="200"/>
            </a:pPr>
            <a:endParaRPr/>
          </a:p>
        </p:txBody>
      </p:sp>
      <p:sp>
        <p:nvSpPr>
          <p:cNvPr id="186" name="Google Shape;149;p19"/>
          <p:cNvSpPr/>
          <p:nvPr/>
        </p:nvSpPr>
        <p:spPr>
          <a:xfrm>
            <a:off x="3404590" y="3264480"/>
            <a:ext cx="567001" cy="567001"/>
          </a:xfrm>
          <a:prstGeom prst="ellipse">
            <a:avLst/>
          </a:prstGeom>
          <a:solidFill>
            <a:srgbClr val="FFFFFF"/>
          </a:solidFill>
          <a:ln>
            <a:solidFill>
              <a:srgbClr val="FCB425"/>
            </a:solidFill>
          </a:ln>
        </p:spPr>
        <p:txBody>
          <a:bodyPr lIns="0" tIns="0" rIns="0" bIns="0" anchor="ctr"/>
          <a:lstStyle/>
          <a:p>
            <a:pPr algn="ctr">
              <a:defRPr sz="200"/>
            </a:pPr>
            <a:endParaRPr/>
          </a:p>
        </p:txBody>
      </p:sp>
      <p:sp>
        <p:nvSpPr>
          <p:cNvPr id="187" name="Google Shape;150;p19"/>
          <p:cNvSpPr/>
          <p:nvPr/>
        </p:nvSpPr>
        <p:spPr>
          <a:xfrm>
            <a:off x="6216665" y="3264479"/>
            <a:ext cx="567001" cy="567001"/>
          </a:xfrm>
          <a:prstGeom prst="ellipse">
            <a:avLst/>
          </a:prstGeom>
          <a:ln>
            <a:solidFill>
              <a:srgbClr val="FCB425"/>
            </a:solidFill>
          </a:ln>
        </p:spPr>
        <p:txBody>
          <a:bodyPr lIns="0" tIns="0" rIns="0" bIns="0" anchor="ctr"/>
          <a:lstStyle/>
          <a:p>
            <a:pPr algn="ctr">
              <a:defRPr sz="200"/>
            </a:pPr>
            <a:endParaRPr/>
          </a:p>
        </p:txBody>
      </p:sp>
      <p:sp>
        <p:nvSpPr>
          <p:cNvPr id="188" name="Google Shape;151;p19"/>
          <p:cNvSpPr txBox="1"/>
          <p:nvPr/>
        </p:nvSpPr>
        <p:spPr>
          <a:xfrm>
            <a:off x="622214" y="3295060"/>
            <a:ext cx="303601" cy="51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722376">
              <a:defRPr sz="2370">
                <a:solidFill>
                  <a:srgbClr val="FCB425"/>
                </a:solidFill>
              </a:defRPr>
            </a:lvl1pPr>
          </a:lstStyle>
          <a:p>
            <a:r>
              <a:rPr dirty="0"/>
              <a:t>1</a:t>
            </a:r>
          </a:p>
        </p:txBody>
      </p:sp>
      <p:sp>
        <p:nvSpPr>
          <p:cNvPr id="189" name="Google Shape;152;p19"/>
          <p:cNvSpPr txBox="1"/>
          <p:nvPr/>
        </p:nvSpPr>
        <p:spPr>
          <a:xfrm>
            <a:off x="3524523" y="3295059"/>
            <a:ext cx="338701" cy="51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722376">
              <a:defRPr sz="2370">
                <a:solidFill>
                  <a:srgbClr val="FCB425"/>
                </a:solidFill>
              </a:defRPr>
            </a:lvl1pPr>
          </a:lstStyle>
          <a:p>
            <a:r>
              <a:rPr dirty="0"/>
              <a:t>2</a:t>
            </a:r>
          </a:p>
        </p:txBody>
      </p:sp>
      <p:sp>
        <p:nvSpPr>
          <p:cNvPr id="190" name="Google Shape;153;p19"/>
          <p:cNvSpPr txBox="1"/>
          <p:nvPr/>
        </p:nvSpPr>
        <p:spPr>
          <a:xfrm>
            <a:off x="6330814" y="3295059"/>
            <a:ext cx="338701" cy="51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722376">
              <a:defRPr sz="2370">
                <a:solidFill>
                  <a:srgbClr val="FCB425"/>
                </a:solidFill>
              </a:defRPr>
            </a:lvl1pPr>
          </a:lstStyle>
          <a:p>
            <a:r>
              <a:rPr dirty="0"/>
              <a:t>3</a:t>
            </a:r>
          </a:p>
        </p:txBody>
      </p:sp>
      <p:sp>
        <p:nvSpPr>
          <p:cNvPr id="191" name="Google Shape;154;p19"/>
          <p:cNvSpPr txBox="1"/>
          <p:nvPr/>
        </p:nvSpPr>
        <p:spPr>
          <a:xfrm>
            <a:off x="371919" y="265872"/>
            <a:ext cx="4300200" cy="70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fontScale="62500" lnSpcReduction="20000"/>
          </a:bodyPr>
          <a:lstStyle>
            <a:lvl1pPr>
              <a:defRPr sz="3600">
                <a:solidFill>
                  <a:srgbClr val="FCB425"/>
                </a:solidFill>
              </a:defRPr>
            </a:lvl1pPr>
          </a:lstStyle>
          <a:p>
            <a:r>
              <a:rPr dirty="0"/>
              <a:t>The </a:t>
            </a:r>
            <a:r>
              <a:rPr dirty="0" err="1"/>
              <a:t>finQbit</a:t>
            </a:r>
            <a:r>
              <a:rPr dirty="0"/>
              <a:t> 2-Qubit Architecture</a:t>
            </a:r>
          </a:p>
        </p:txBody>
      </p:sp>
      <p:sp>
        <p:nvSpPr>
          <p:cNvPr id="192" name="Google Shape;155;p19"/>
          <p:cNvSpPr/>
          <p:nvPr/>
        </p:nvSpPr>
        <p:spPr>
          <a:xfrm>
            <a:off x="6458317" y="1354960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93" name="Google Shape;156;p19"/>
          <p:cNvSpPr/>
          <p:nvPr/>
        </p:nvSpPr>
        <p:spPr>
          <a:xfrm>
            <a:off x="7364134" y="1855309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0CD973A8-15D7-CEA6-930A-82D9364E5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90" y="861038"/>
            <a:ext cx="6881360" cy="2324502"/>
          </a:xfrm>
          <a:prstGeom prst="rect">
            <a:avLst/>
          </a:prstGeom>
        </p:spPr>
      </p:pic>
      <p:sp>
        <p:nvSpPr>
          <p:cNvPr id="6" name="Google Shape;145;p19">
            <a:extLst>
              <a:ext uri="{FF2B5EF4-FFF2-40B4-BE49-F238E27FC236}">
                <a16:creationId xmlns:a16="http://schemas.microsoft.com/office/drawing/2014/main" id="{A22EAD78-1701-E90A-DCAC-87B6B436B0FF}"/>
              </a:ext>
            </a:extLst>
          </p:cNvPr>
          <p:cNvSpPr txBox="1"/>
          <p:nvPr/>
        </p:nvSpPr>
        <p:spPr>
          <a:xfrm>
            <a:off x="8272455" y="264383"/>
            <a:ext cx="555109" cy="430857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f(Q)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4CBD6-2D00-256D-A4A4-9D22EBAD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emini-2.5-flash-image_Prosím_sprav_mi_rôzne_variácie_tohto_vizuálu._Zachovaj_farebnosť_len_zmeň_-2 (1).jpgGoogle Shape;141;p19" descr="gemini-2.5-flash-image_Prosím_sprav_mi_rôzne_variácie_tohto_vizuálu._Zachovaj_farebnosť_len_zmeň_-2 (1).jpgGoogle Shape;141;p19">
            <a:extLst>
              <a:ext uri="{FF2B5EF4-FFF2-40B4-BE49-F238E27FC236}">
                <a16:creationId xmlns:a16="http://schemas.microsoft.com/office/drawing/2014/main" id="{1623FF30-051B-B3B0-8C4B-446CFCB681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>
            <a:off x="-12670" y="-6426"/>
            <a:ext cx="9137100" cy="51435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</p:pic>
      <p:sp>
        <p:nvSpPr>
          <p:cNvPr id="180" name="Google Shape;143;p19">
            <a:extLst>
              <a:ext uri="{FF2B5EF4-FFF2-40B4-BE49-F238E27FC236}">
                <a16:creationId xmlns:a16="http://schemas.microsoft.com/office/drawing/2014/main" id="{F20DE18E-A05D-CDF8-1AD6-716009F3EFA1}"/>
              </a:ext>
            </a:extLst>
          </p:cNvPr>
          <p:cNvSpPr/>
          <p:nvPr/>
        </p:nvSpPr>
        <p:spPr>
          <a:xfrm>
            <a:off x="3918175" y="-6426"/>
            <a:ext cx="3495901" cy="1898402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1" name="Google Shape;144;p19">
            <a:extLst>
              <a:ext uri="{FF2B5EF4-FFF2-40B4-BE49-F238E27FC236}">
                <a16:creationId xmlns:a16="http://schemas.microsoft.com/office/drawing/2014/main" id="{014E3BA9-B266-70AC-1EE1-C47A7BBD8CA3}"/>
              </a:ext>
            </a:extLst>
          </p:cNvPr>
          <p:cNvSpPr/>
          <p:nvPr/>
        </p:nvSpPr>
        <p:spPr>
          <a:xfrm flipV="1">
            <a:off x="20850" y="869300"/>
            <a:ext cx="9137100" cy="17610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2" name="Google Shape;145;p19">
            <a:extLst>
              <a:ext uri="{FF2B5EF4-FFF2-40B4-BE49-F238E27FC236}">
                <a16:creationId xmlns:a16="http://schemas.microsoft.com/office/drawing/2014/main" id="{E8A430CF-5D78-AE51-E1E8-515414BBC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875" y="3835961"/>
            <a:ext cx="2971950" cy="13905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just"/>
            <a:r>
              <a:rPr lang="pl-PL" sz="1200" dirty="0"/>
              <a:t>E</a:t>
            </a:r>
            <a:r>
              <a:rPr sz="1200" dirty="0"/>
              <a:t>ach qubit encodes 2 features via orthogonal Ry/Rx axes. 4 BSM inputs on just 2 qubits, maximizing information density per qubit.</a:t>
            </a:r>
          </a:p>
        </p:txBody>
      </p:sp>
      <p:sp>
        <p:nvSpPr>
          <p:cNvPr id="183" name="Google Shape;146;p19">
            <a:extLst>
              <a:ext uri="{FF2B5EF4-FFF2-40B4-BE49-F238E27FC236}">
                <a16:creationId xmlns:a16="http://schemas.microsoft.com/office/drawing/2014/main" id="{47F7EF8E-25F7-59BE-9CD7-F32D1322D0EA}"/>
              </a:ext>
            </a:extLst>
          </p:cNvPr>
          <p:cNvSpPr txBox="1"/>
          <p:nvPr/>
        </p:nvSpPr>
        <p:spPr>
          <a:xfrm>
            <a:off x="3232950" y="3802791"/>
            <a:ext cx="2678100" cy="1074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just"/>
            <a:r>
              <a:rPr sz="1200" dirty="0"/>
              <a:t>Feature Permutation: feature pairs permuted across re-uploading layers to capture diverse inter-feature correlations..</a:t>
            </a:r>
          </a:p>
        </p:txBody>
      </p:sp>
      <p:sp>
        <p:nvSpPr>
          <p:cNvPr id="184" name="Google Shape;147;p19">
            <a:extLst>
              <a:ext uri="{FF2B5EF4-FFF2-40B4-BE49-F238E27FC236}">
                <a16:creationId xmlns:a16="http://schemas.microsoft.com/office/drawing/2014/main" id="{5619E6D4-A62E-97C3-74FE-A91C58D23B70}"/>
              </a:ext>
            </a:extLst>
          </p:cNvPr>
          <p:cNvSpPr txBox="1"/>
          <p:nvPr/>
        </p:nvSpPr>
        <p:spPr>
          <a:xfrm>
            <a:off x="6052234" y="3802791"/>
            <a:ext cx="2678100" cy="13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just"/>
            <a:r>
              <a:rPr sz="1200" dirty="0"/>
              <a:t>U(4) Compression: 8 CNOT gates compressed to single U(4) block via ML optimization. </a:t>
            </a:r>
          </a:p>
        </p:txBody>
      </p:sp>
      <p:sp>
        <p:nvSpPr>
          <p:cNvPr id="185" name="Google Shape;148;p19">
            <a:extLst>
              <a:ext uri="{FF2B5EF4-FFF2-40B4-BE49-F238E27FC236}">
                <a16:creationId xmlns:a16="http://schemas.microsoft.com/office/drawing/2014/main" id="{8042A794-4917-081B-6520-C8B16AD75597}"/>
              </a:ext>
            </a:extLst>
          </p:cNvPr>
          <p:cNvSpPr/>
          <p:nvPr/>
        </p:nvSpPr>
        <p:spPr>
          <a:xfrm>
            <a:off x="493854" y="3268960"/>
            <a:ext cx="567001" cy="567001"/>
          </a:xfrm>
          <a:prstGeom prst="ellipse">
            <a:avLst/>
          </a:prstGeom>
          <a:noFill/>
          <a:ln>
            <a:solidFill>
              <a:srgbClr val="FCB425"/>
            </a:solidFill>
          </a:ln>
        </p:spPr>
        <p:txBody>
          <a:bodyPr lIns="0" tIns="0" rIns="0" bIns="0" anchor="ctr"/>
          <a:lstStyle/>
          <a:p>
            <a:pPr algn="ctr">
              <a:defRPr sz="200"/>
            </a:pPr>
            <a:endParaRPr/>
          </a:p>
        </p:txBody>
      </p:sp>
      <p:sp>
        <p:nvSpPr>
          <p:cNvPr id="186" name="Google Shape;149;p19">
            <a:extLst>
              <a:ext uri="{FF2B5EF4-FFF2-40B4-BE49-F238E27FC236}">
                <a16:creationId xmlns:a16="http://schemas.microsoft.com/office/drawing/2014/main" id="{E0EEEDBE-ACBF-6A69-2D2B-D31B3D35BEE6}"/>
              </a:ext>
            </a:extLst>
          </p:cNvPr>
          <p:cNvSpPr/>
          <p:nvPr/>
        </p:nvSpPr>
        <p:spPr>
          <a:xfrm>
            <a:off x="3404590" y="3264480"/>
            <a:ext cx="567001" cy="567001"/>
          </a:xfrm>
          <a:prstGeom prst="ellipse">
            <a:avLst/>
          </a:prstGeom>
          <a:noFill/>
          <a:ln>
            <a:solidFill>
              <a:srgbClr val="FCB425"/>
            </a:solidFill>
          </a:ln>
        </p:spPr>
        <p:txBody>
          <a:bodyPr lIns="0" tIns="0" rIns="0" bIns="0" anchor="ctr"/>
          <a:lstStyle/>
          <a:p>
            <a:pPr algn="ctr">
              <a:defRPr sz="200"/>
            </a:pPr>
            <a:endParaRPr/>
          </a:p>
        </p:txBody>
      </p:sp>
      <p:sp>
        <p:nvSpPr>
          <p:cNvPr id="187" name="Google Shape;150;p19">
            <a:extLst>
              <a:ext uri="{FF2B5EF4-FFF2-40B4-BE49-F238E27FC236}">
                <a16:creationId xmlns:a16="http://schemas.microsoft.com/office/drawing/2014/main" id="{44ECFF59-307E-D7D1-38C5-773BF5AAEB6F}"/>
              </a:ext>
            </a:extLst>
          </p:cNvPr>
          <p:cNvSpPr/>
          <p:nvPr/>
        </p:nvSpPr>
        <p:spPr>
          <a:xfrm>
            <a:off x="6216665" y="3264479"/>
            <a:ext cx="567001" cy="567001"/>
          </a:xfrm>
          <a:prstGeom prst="ellipse">
            <a:avLst/>
          </a:prstGeom>
          <a:solidFill>
            <a:schemeClr val="bg1"/>
          </a:solidFill>
          <a:ln>
            <a:solidFill>
              <a:srgbClr val="FCB425"/>
            </a:solidFill>
          </a:ln>
        </p:spPr>
        <p:txBody>
          <a:bodyPr lIns="0" tIns="0" rIns="0" bIns="0" anchor="ctr"/>
          <a:lstStyle/>
          <a:p>
            <a:pPr algn="ctr">
              <a:defRPr sz="200"/>
            </a:pPr>
            <a:endParaRPr/>
          </a:p>
        </p:txBody>
      </p:sp>
      <p:sp>
        <p:nvSpPr>
          <p:cNvPr id="188" name="Google Shape;151;p19">
            <a:extLst>
              <a:ext uri="{FF2B5EF4-FFF2-40B4-BE49-F238E27FC236}">
                <a16:creationId xmlns:a16="http://schemas.microsoft.com/office/drawing/2014/main" id="{568AC02E-1901-873A-51A2-E6906B24F9A8}"/>
              </a:ext>
            </a:extLst>
          </p:cNvPr>
          <p:cNvSpPr txBox="1"/>
          <p:nvPr/>
        </p:nvSpPr>
        <p:spPr>
          <a:xfrm>
            <a:off x="622214" y="3295060"/>
            <a:ext cx="303601" cy="51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722376">
              <a:defRPr sz="2370">
                <a:solidFill>
                  <a:srgbClr val="FCB425"/>
                </a:solidFill>
              </a:defRPr>
            </a:lvl1pPr>
          </a:lstStyle>
          <a:p>
            <a:r>
              <a:rPr dirty="0"/>
              <a:t>1</a:t>
            </a:r>
          </a:p>
        </p:txBody>
      </p:sp>
      <p:sp>
        <p:nvSpPr>
          <p:cNvPr id="189" name="Google Shape;152;p19">
            <a:extLst>
              <a:ext uri="{FF2B5EF4-FFF2-40B4-BE49-F238E27FC236}">
                <a16:creationId xmlns:a16="http://schemas.microsoft.com/office/drawing/2014/main" id="{0FE6AB90-6CD2-6059-391A-9EBD27DF2D14}"/>
              </a:ext>
            </a:extLst>
          </p:cNvPr>
          <p:cNvSpPr txBox="1"/>
          <p:nvPr/>
        </p:nvSpPr>
        <p:spPr>
          <a:xfrm>
            <a:off x="3524523" y="3295059"/>
            <a:ext cx="338701" cy="51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722376">
              <a:defRPr sz="2370">
                <a:solidFill>
                  <a:srgbClr val="FCB425"/>
                </a:solidFill>
              </a:defRPr>
            </a:lvl1pPr>
          </a:lstStyle>
          <a:p>
            <a:r>
              <a:rPr dirty="0"/>
              <a:t>2</a:t>
            </a:r>
          </a:p>
        </p:txBody>
      </p:sp>
      <p:sp>
        <p:nvSpPr>
          <p:cNvPr id="190" name="Google Shape;153;p19">
            <a:extLst>
              <a:ext uri="{FF2B5EF4-FFF2-40B4-BE49-F238E27FC236}">
                <a16:creationId xmlns:a16="http://schemas.microsoft.com/office/drawing/2014/main" id="{7BC26C55-9679-E0F1-B07F-59BD90A49F1A}"/>
              </a:ext>
            </a:extLst>
          </p:cNvPr>
          <p:cNvSpPr txBox="1"/>
          <p:nvPr/>
        </p:nvSpPr>
        <p:spPr>
          <a:xfrm>
            <a:off x="6330814" y="3295059"/>
            <a:ext cx="338701" cy="51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defTabSz="722376">
              <a:defRPr sz="2370">
                <a:solidFill>
                  <a:srgbClr val="FCB425"/>
                </a:solidFill>
              </a:defRPr>
            </a:lvl1pPr>
          </a:lstStyle>
          <a:p>
            <a:r>
              <a:rPr dirty="0"/>
              <a:t>3</a:t>
            </a:r>
          </a:p>
        </p:txBody>
      </p:sp>
      <p:sp>
        <p:nvSpPr>
          <p:cNvPr id="191" name="Google Shape;154;p19">
            <a:extLst>
              <a:ext uri="{FF2B5EF4-FFF2-40B4-BE49-F238E27FC236}">
                <a16:creationId xmlns:a16="http://schemas.microsoft.com/office/drawing/2014/main" id="{F46D239B-0F6F-2B53-81AD-2897CA1EE83F}"/>
              </a:ext>
            </a:extLst>
          </p:cNvPr>
          <p:cNvSpPr txBox="1"/>
          <p:nvPr/>
        </p:nvSpPr>
        <p:spPr>
          <a:xfrm>
            <a:off x="371919" y="265872"/>
            <a:ext cx="4300200" cy="70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fontScale="62500" lnSpcReduction="20000"/>
          </a:bodyPr>
          <a:lstStyle>
            <a:lvl1pPr>
              <a:defRPr sz="3600">
                <a:solidFill>
                  <a:srgbClr val="FCB425"/>
                </a:solidFill>
              </a:defRPr>
            </a:lvl1pPr>
          </a:lstStyle>
          <a:p>
            <a:r>
              <a:rPr dirty="0"/>
              <a:t>The </a:t>
            </a:r>
            <a:r>
              <a:rPr dirty="0" err="1"/>
              <a:t>finQbit</a:t>
            </a:r>
            <a:r>
              <a:rPr dirty="0"/>
              <a:t> 2-Qubit Architecture</a:t>
            </a:r>
          </a:p>
        </p:txBody>
      </p:sp>
      <p:sp>
        <p:nvSpPr>
          <p:cNvPr id="192" name="Google Shape;155;p19">
            <a:extLst>
              <a:ext uri="{FF2B5EF4-FFF2-40B4-BE49-F238E27FC236}">
                <a16:creationId xmlns:a16="http://schemas.microsoft.com/office/drawing/2014/main" id="{41D3FE58-D9A6-A6B9-DAA5-65E9D63DC3E0}"/>
              </a:ext>
            </a:extLst>
          </p:cNvPr>
          <p:cNvSpPr/>
          <p:nvPr/>
        </p:nvSpPr>
        <p:spPr>
          <a:xfrm>
            <a:off x="6458317" y="1354960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93" name="Google Shape;156;p19">
            <a:extLst>
              <a:ext uri="{FF2B5EF4-FFF2-40B4-BE49-F238E27FC236}">
                <a16:creationId xmlns:a16="http://schemas.microsoft.com/office/drawing/2014/main" id="{51ED124A-264C-1F14-FAA3-798CFC7BE6F0}"/>
              </a:ext>
            </a:extLst>
          </p:cNvPr>
          <p:cNvSpPr/>
          <p:nvPr/>
        </p:nvSpPr>
        <p:spPr>
          <a:xfrm>
            <a:off x="7364134" y="1855309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" name="Google Shape;145;p19">
            <a:extLst>
              <a:ext uri="{FF2B5EF4-FFF2-40B4-BE49-F238E27FC236}">
                <a16:creationId xmlns:a16="http://schemas.microsoft.com/office/drawing/2014/main" id="{E0E05419-DC09-468C-D5D0-005881866085}"/>
              </a:ext>
            </a:extLst>
          </p:cNvPr>
          <p:cNvSpPr txBox="1"/>
          <p:nvPr/>
        </p:nvSpPr>
        <p:spPr>
          <a:xfrm>
            <a:off x="8272455" y="264383"/>
            <a:ext cx="555109" cy="430857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f(Q)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D758775-7EE3-655B-FE24-E22D3EF29D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565" y="777079"/>
            <a:ext cx="5334000" cy="110490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3E16190-476D-5C8B-3B6C-43A8CA6F3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" y="2138194"/>
            <a:ext cx="4317489" cy="95944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364CB3BD-A4C0-7549-8CE8-451CAAA237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79" y="2150580"/>
            <a:ext cx="4360385" cy="9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267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magnifics_upscale-precision-we4uFarY0KTxXDoKVCcB-muwss_Abstract_digitally_generated_artwork_wide_cinematic_compo_8be46f49-319f-47a2-9a12-f2b9eaf211d8.pngGoogle Shape;104;p16" descr="magnifics_upscale-precision-we4uFarY0KTxXDoKVCcB-muwss_Abstract_digitally_generated_artwork_wide_cinematic_compo_8be46f49-319f-47a2-9a12-f2b9eaf211d8.pngGoogle Shape;104;p16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-15910" y="0"/>
            <a:ext cx="9175835" cy="5143499"/>
          </a:xfrm>
          <a:prstGeom prst="rect">
            <a:avLst/>
          </a:prstGeom>
          <a:ln w="12700">
            <a:miter lim="400000"/>
          </a:ln>
          <a:effectLst>
            <a:reflection endPos="40000" dir="5400000" sy="-100000" algn="bl" rotWithShape="0"/>
          </a:effectLst>
        </p:spPr>
      </p:pic>
      <p:sp>
        <p:nvSpPr>
          <p:cNvPr id="151" name="Google Shape;105;p16"/>
          <p:cNvSpPr txBox="1">
            <a:spLocks noGrp="1"/>
          </p:cNvSpPr>
          <p:nvPr>
            <p:ph type="title"/>
          </p:nvPr>
        </p:nvSpPr>
        <p:spPr>
          <a:xfrm>
            <a:off x="436725" y="845249"/>
            <a:ext cx="7587599" cy="17265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868680">
              <a:defRPr sz="5320">
                <a:solidFill>
                  <a:srgbClr val="1C0239"/>
                </a:solidFill>
              </a:defRPr>
            </a:pPr>
            <a:r>
              <a:rPr dirty="0"/>
              <a:t>Cross-Platform</a:t>
            </a:r>
          </a:p>
          <a:p>
            <a:pPr defTabSz="868680">
              <a:defRPr sz="5320">
                <a:solidFill>
                  <a:srgbClr val="1C0239"/>
                </a:solidFill>
              </a:defRPr>
            </a:pPr>
            <a:r>
              <a:rPr dirty="0"/>
              <a:t>Hardware Results</a:t>
            </a:r>
            <a:br>
              <a:rPr lang="pl-PL" dirty="0"/>
            </a:br>
            <a:r>
              <a:rPr lang="pl-PL" sz="2700" dirty="0" err="1"/>
              <a:t>Ideal</a:t>
            </a:r>
            <a:r>
              <a:rPr lang="pl-PL" sz="2700" dirty="0"/>
              <a:t> </a:t>
            </a:r>
            <a:r>
              <a:rPr lang="pl-PL" sz="2700" dirty="0" err="1"/>
              <a:t>simulation</a:t>
            </a:r>
            <a:br>
              <a:rPr lang="pl-PL" sz="2700" dirty="0"/>
            </a:br>
            <a:r>
              <a:rPr lang="pl-PL" sz="2700" dirty="0" err="1"/>
              <a:t>Shot</a:t>
            </a:r>
            <a:r>
              <a:rPr lang="pl-PL" sz="2700" dirty="0"/>
              <a:t> </a:t>
            </a:r>
            <a:r>
              <a:rPr lang="pl-PL" sz="2700" dirty="0" err="1"/>
              <a:t>noise</a:t>
            </a:r>
            <a:r>
              <a:rPr lang="pl-PL" sz="2700" dirty="0"/>
              <a:t> </a:t>
            </a:r>
            <a:r>
              <a:rPr lang="pl-PL" sz="2700" dirty="0" err="1"/>
              <a:t>simulation</a:t>
            </a:r>
            <a:br>
              <a:rPr lang="pl-PL" sz="2700" dirty="0"/>
            </a:br>
            <a:r>
              <a:rPr lang="pl-PL" sz="2700" dirty="0" err="1"/>
              <a:t>Execution</a:t>
            </a:r>
            <a:r>
              <a:rPr lang="pl-PL" sz="2700" dirty="0"/>
              <a:t> on QPU</a:t>
            </a:r>
            <a:endParaRPr sz="2700" dirty="0"/>
          </a:p>
        </p:txBody>
      </p:sp>
      <p:sp>
        <p:nvSpPr>
          <p:cNvPr id="152" name="Google Shape;106;p16"/>
          <p:cNvSpPr/>
          <p:nvPr/>
        </p:nvSpPr>
        <p:spPr>
          <a:xfrm>
            <a:off x="-22675" y="446007"/>
            <a:ext cx="9207601" cy="1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Google Shape;108;p16"/>
          <p:cNvSpPr/>
          <p:nvPr/>
        </p:nvSpPr>
        <p:spPr>
          <a:xfrm flipV="1">
            <a:off x="4942699" y="-25826"/>
            <a:ext cx="3526800" cy="5213102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5" name="Google Shape;109;p16"/>
          <p:cNvSpPr/>
          <p:nvPr/>
        </p:nvSpPr>
        <p:spPr>
          <a:xfrm flipV="1">
            <a:off x="1737674" y="2571750"/>
            <a:ext cx="6615902" cy="1621801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6" name="Google Shape;110;p16"/>
          <p:cNvSpPr/>
          <p:nvPr/>
        </p:nvSpPr>
        <p:spPr>
          <a:xfrm>
            <a:off x="8127259" y="418842"/>
            <a:ext cx="54301" cy="54301"/>
          </a:xfrm>
          <a:prstGeom prst="ellipse">
            <a:avLst/>
          </a:prstGeom>
          <a:solidFill>
            <a:srgbClr val="1C023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57" name="Google Shape;111;p16"/>
          <p:cNvSpPr/>
          <p:nvPr/>
        </p:nvSpPr>
        <p:spPr>
          <a:xfrm>
            <a:off x="6359759" y="3026941"/>
            <a:ext cx="54301" cy="54301"/>
          </a:xfrm>
          <a:prstGeom prst="ellipse">
            <a:avLst/>
          </a:prstGeom>
          <a:solidFill>
            <a:srgbClr val="1C023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F2FBF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/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/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/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/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/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4E176C0C-A7E8-9E47-FABF-919BCDC6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429" y="364982"/>
            <a:ext cx="2853141" cy="572701"/>
          </a:xfrm>
        </p:spPr>
        <p:txBody>
          <a:bodyPr>
            <a:normAutofit fontScale="90000"/>
          </a:bodyPr>
          <a:lstStyle/>
          <a:p>
            <a:r>
              <a:rPr lang="pl-PL" b="1" dirty="0" err="1">
                <a:solidFill>
                  <a:schemeClr val="accent4"/>
                </a:solidFill>
              </a:rPr>
              <a:t>Ideal</a:t>
            </a:r>
            <a:r>
              <a:rPr lang="pl-PL" b="1" dirty="0">
                <a:solidFill>
                  <a:schemeClr val="accent4"/>
                </a:solidFill>
              </a:rPr>
              <a:t> </a:t>
            </a:r>
            <a:r>
              <a:rPr lang="pl-PL" b="1" dirty="0" err="1">
                <a:solidFill>
                  <a:schemeClr val="accent4"/>
                </a:solidFill>
              </a:rPr>
              <a:t>simulation</a:t>
            </a:r>
            <a:endParaRPr lang="pl-PL" b="1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90;p15">
                <a:extLst>
                  <a:ext uri="{FF2B5EF4-FFF2-40B4-BE49-F238E27FC236}">
                    <a16:creationId xmlns:a16="http://schemas.microsoft.com/office/drawing/2014/main" id="{BC7E6292-78BB-5798-8F6A-0009CADF83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699" y="1123060"/>
                <a:ext cx="5271221" cy="303876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91424" tIns="91424" rIns="91424" bIns="91424">
                <a:normAutofit/>
              </a:bodyPr>
              <a:lstStyle>
                <a:lvl1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 b="0" i="0" u="none" strike="noStrike" cap="none" spc="0" baseline="0">
                    <a:solidFill>
                      <a:srgbClr val="FFFFFF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1pPr>
                <a:lvl2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2pPr>
                <a:lvl3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3pPr>
                <a:lvl4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4pPr>
                <a:lvl5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5pPr>
                <a:lvl6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6pPr>
                <a:lvl7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7pPr>
                <a:lvl8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8pPr>
                <a:lvl9pPr marL="0" marR="0" indent="0" algn="l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hangingPunct="1"/>
                <a:r>
                  <a:rPr lang="pl-PL" sz="1400" dirty="0" err="1"/>
                  <a:t>Moneyness</a:t>
                </a:r>
                <a:r>
                  <a:rPr lang="pl-PL" sz="1400" dirty="0"/>
                  <a:t>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14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pl-PL" sz="1400" dirty="0"/>
                  <a:t> [ 0.8, 0.9, 1.0, 1.1,1.2  ]</a:t>
                </a:r>
                <a:br>
                  <a:rPr lang="pl-PL" sz="1400" dirty="0"/>
                </a:br>
                <a:r>
                  <a:rPr lang="pl-PL" sz="1400" dirty="0"/>
                  <a:t>Time to </a:t>
                </a:r>
                <a:r>
                  <a:rPr lang="pl-PL" sz="1400" dirty="0" err="1"/>
                  <a:t>Maturity</a:t>
                </a:r>
                <a:r>
                  <a:rPr lang="pl-PL" sz="1400" dirty="0"/>
                  <a:t>             </a:t>
                </a:r>
                <a14:m>
                  <m:oMath xmlns:m="http://schemas.openxmlformats.org/officeDocument/2006/math">
                    <m:r>
                      <a:rPr lang="pl-PL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1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l-PL" sz="140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 = 1.0</m:t>
                    </m:r>
                  </m:oMath>
                </a14:m>
                <a:br>
                  <a:rPr lang="pl-PL" sz="1400" dirty="0"/>
                </a:br>
                <a:r>
                  <a:rPr lang="pl-PL" sz="1400" dirty="0" err="1"/>
                  <a:t>Risk</a:t>
                </a:r>
                <a:r>
                  <a:rPr lang="pl-PL" sz="1400" dirty="0"/>
                  <a:t> </a:t>
                </a:r>
                <a:r>
                  <a:rPr lang="pl-PL" sz="1400" dirty="0" err="1"/>
                  <a:t>free</a:t>
                </a:r>
                <a:r>
                  <a:rPr lang="pl-PL" sz="1400" dirty="0"/>
                  <a:t> </a:t>
                </a:r>
                <a:r>
                  <a:rPr lang="pl-PL" sz="1400" dirty="0" err="1"/>
                  <a:t>Interest</a:t>
                </a:r>
                <a:r>
                  <a:rPr lang="pl-PL" sz="1400" dirty="0"/>
                  <a:t> </a:t>
                </a:r>
                <a:r>
                  <a:rPr lang="pl-PL" sz="1400" dirty="0" err="1"/>
                  <a:t>Rate</a:t>
                </a:r>
                <a:r>
                  <a:rPr lang="pl-PL" sz="1400" dirty="0"/>
                  <a:t>.    </a:t>
                </a:r>
                <a14:m>
                  <m:oMath xmlns:m="http://schemas.openxmlformats.org/officeDocument/2006/math">
                    <m:r>
                      <a:rPr lang="pl-PL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l-PL" sz="140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pl-PL" sz="1400" b="0" i="1" smtClean="0">
                        <a:latin typeface="Cambria Math" panose="02040503050406030204" pitchFamily="18" charset="0"/>
                      </a:rPr>
                      <m:t>= 0.05</m:t>
                    </m:r>
                  </m:oMath>
                </a14:m>
                <a:br>
                  <a:rPr lang="pl-PL" sz="1400" dirty="0"/>
                </a:br>
                <a:r>
                  <a:rPr lang="pl-PL" sz="1400" dirty="0" err="1"/>
                  <a:t>Volatility</a:t>
                </a:r>
                <a:r>
                  <a:rPr lang="pl-PL" sz="1400" dirty="0"/>
                  <a:t>                          </a:t>
                </a:r>
                <a14:m>
                  <m:oMath xmlns:m="http://schemas.openxmlformats.org/officeDocument/2006/math">
                    <m:r>
                      <a:rPr lang="pl-PL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l-PL" sz="140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pl-PL" sz="1400" i="1" smtClean="0">
                        <a:latin typeface="Cambria Math" panose="02040503050406030204" pitchFamily="18" charset="0"/>
                      </a:rPr>
                      <m:t> =0.2</m:t>
                    </m:r>
                  </m:oMath>
                </a14:m>
                <a:br>
                  <a:rPr lang="pl-PL" sz="1400" dirty="0"/>
                </a:br>
                <a:br>
                  <a:rPr lang="pl-PL" sz="1400" dirty="0"/>
                </a:br>
                <a:br>
                  <a:rPr lang="pl-PL" sz="1800" b="1" dirty="0"/>
                </a:br>
                <a:endParaRPr lang="pl-PL" sz="1800" dirty="0"/>
              </a:p>
            </p:txBody>
          </p:sp>
        </mc:Choice>
        <mc:Fallback xmlns="">
          <p:sp>
            <p:nvSpPr>
              <p:cNvPr id="4" name="Google Shape;90;p15">
                <a:extLst>
                  <a:ext uri="{FF2B5EF4-FFF2-40B4-BE49-F238E27FC236}">
                    <a16:creationId xmlns:a16="http://schemas.microsoft.com/office/drawing/2014/main" id="{BC7E6292-78BB-5798-8F6A-0009CADF8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99" y="1123060"/>
                <a:ext cx="5271221" cy="3038765"/>
              </a:xfrm>
              <a:prstGeom prst="rect">
                <a:avLst/>
              </a:prstGeom>
              <a:blipFill>
                <a:blip r:embed="rId2"/>
                <a:stretch>
                  <a:fillRect l="-24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raz 5">
            <a:extLst>
              <a:ext uri="{FF2B5EF4-FFF2-40B4-BE49-F238E27FC236}">
                <a16:creationId xmlns:a16="http://schemas.microsoft.com/office/drawing/2014/main" id="{A469EE45-097F-D606-17BD-77BD97F49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207" y="1760193"/>
            <a:ext cx="4073167" cy="259422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99939D09-0D1C-0FB4-55E8-EC4371C327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08" y="2571750"/>
            <a:ext cx="3630732" cy="11387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7DE8A-3CBE-8CC8-E5B0-904EDCAE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>
            <a:extLst>
              <a:ext uri="{FF2B5EF4-FFF2-40B4-BE49-F238E27FC236}">
                <a16:creationId xmlns:a16="http://schemas.microsoft.com/office/drawing/2014/main" id="{63662A69-BC01-88FD-DFDF-44450798DF48}"/>
              </a:ext>
            </a:extLst>
          </p:cNvPr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>
            <a:extLst>
              <a:ext uri="{FF2B5EF4-FFF2-40B4-BE49-F238E27FC236}">
                <a16:creationId xmlns:a16="http://schemas.microsoft.com/office/drawing/2014/main" id="{6796651C-10BA-5919-3E26-D7B55DE2A3C9}"/>
              </a:ext>
            </a:extLst>
          </p:cNvPr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>
            <a:extLst>
              <a:ext uri="{FF2B5EF4-FFF2-40B4-BE49-F238E27FC236}">
                <a16:creationId xmlns:a16="http://schemas.microsoft.com/office/drawing/2014/main" id="{DB1B7B98-3D61-F37E-AC5F-E654612B2547}"/>
              </a:ext>
            </a:extLst>
          </p:cNvPr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>
            <a:extLst>
              <a:ext uri="{FF2B5EF4-FFF2-40B4-BE49-F238E27FC236}">
                <a16:creationId xmlns:a16="http://schemas.microsoft.com/office/drawing/2014/main" id="{A46270BC-5CEC-4CC3-426D-F99BBA6488EB}"/>
              </a:ext>
            </a:extLst>
          </p:cNvPr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>
            <a:extLst>
              <a:ext uri="{FF2B5EF4-FFF2-40B4-BE49-F238E27FC236}">
                <a16:creationId xmlns:a16="http://schemas.microsoft.com/office/drawing/2014/main" id="{310C827E-884B-B0B8-EB59-ED39F1971A10}"/>
              </a:ext>
            </a:extLst>
          </p:cNvPr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23A8C26C-60A8-7E40-588D-2523ABF3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429" y="364982"/>
            <a:ext cx="3600811" cy="572701"/>
          </a:xfrm>
        </p:spPr>
        <p:txBody>
          <a:bodyPr>
            <a:normAutofit fontScale="90000"/>
          </a:bodyPr>
          <a:lstStyle/>
          <a:p>
            <a:r>
              <a:rPr lang="pl-PL" b="1" dirty="0" err="1">
                <a:solidFill>
                  <a:schemeClr val="accent4"/>
                </a:solidFill>
              </a:rPr>
              <a:t>Shot</a:t>
            </a:r>
            <a:r>
              <a:rPr lang="pl-PL" b="1" dirty="0">
                <a:solidFill>
                  <a:schemeClr val="accent4"/>
                </a:solidFill>
              </a:rPr>
              <a:t> </a:t>
            </a:r>
            <a:r>
              <a:rPr lang="pl-PL" b="1" dirty="0" err="1">
                <a:solidFill>
                  <a:schemeClr val="accent4"/>
                </a:solidFill>
              </a:rPr>
              <a:t>noise</a:t>
            </a:r>
            <a:r>
              <a:rPr lang="pl-PL" b="1" dirty="0">
                <a:solidFill>
                  <a:schemeClr val="accent4"/>
                </a:solidFill>
              </a:rPr>
              <a:t> </a:t>
            </a:r>
            <a:r>
              <a:rPr lang="pl-PL" b="1" dirty="0" err="1">
                <a:solidFill>
                  <a:schemeClr val="accent4"/>
                </a:solidFill>
              </a:rPr>
              <a:t>simulation</a:t>
            </a:r>
            <a:endParaRPr lang="pl-PL" b="1" dirty="0">
              <a:solidFill>
                <a:schemeClr val="accent4"/>
              </a:solidFill>
            </a:endParaRP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9FE24A97-92BF-C733-259E-64B2F94430A3}"/>
              </a:ext>
            </a:extLst>
          </p:cNvPr>
          <p:cNvSpPr txBox="1">
            <a:spLocks/>
          </p:cNvSpPr>
          <p:nvPr/>
        </p:nvSpPr>
        <p:spPr>
          <a:xfrm>
            <a:off x="311699" y="1123060"/>
            <a:ext cx="5032461" cy="125437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pl-PL" dirty="0" err="1"/>
              <a:t>Count-based</a:t>
            </a:r>
            <a:r>
              <a:rPr lang="pl-PL" dirty="0"/>
              <a:t> </a:t>
            </a:r>
            <a:r>
              <a:rPr lang="pl-PL" dirty="0" err="1"/>
              <a:t>simulators</a:t>
            </a:r>
            <a:r>
              <a:rPr lang="pl-PL" dirty="0"/>
              <a:t>: AWS </a:t>
            </a:r>
            <a:r>
              <a:rPr lang="pl-PL" dirty="0" err="1"/>
              <a:t>Braket</a:t>
            </a:r>
            <a:r>
              <a:rPr lang="pl-PL" dirty="0"/>
              <a:t>, IBM </a:t>
            </a:r>
            <a:r>
              <a:rPr lang="pl-PL" dirty="0" err="1"/>
              <a:t>Qiskit</a:t>
            </a:r>
            <a:endParaRPr lang="pl-PL" dirty="0"/>
          </a:p>
          <a:p>
            <a:pPr hangingPunct="1"/>
            <a:endParaRPr lang="pl-PL" dirty="0"/>
          </a:p>
          <a:p>
            <a:pPr hangingPunct="1"/>
            <a:r>
              <a:rPr lang="pl-PL" dirty="0"/>
              <a:t>R = 20, 50</a:t>
            </a:r>
          </a:p>
          <a:p>
            <a:pPr hangingPunct="1"/>
            <a:r>
              <a:rPr lang="pl-PL" dirty="0"/>
              <a:t>N </a:t>
            </a:r>
            <a:r>
              <a:rPr lang="pl-PL" dirty="0" err="1"/>
              <a:t>Shots</a:t>
            </a:r>
            <a:r>
              <a:rPr lang="pl-PL" dirty="0"/>
              <a:t> = 500, 2000, 5000</a:t>
            </a:r>
            <a:br>
              <a:rPr lang="pl-PL" dirty="0"/>
            </a:br>
            <a:br>
              <a:rPr lang="pl-PL" dirty="0"/>
            </a:br>
            <a:br>
              <a:rPr lang="pl-PL" b="1" dirty="0"/>
            </a:br>
            <a:endParaRPr lang="pl-PL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9C57F634-D778-9E5E-E635-BDF987D06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99" y="3331325"/>
            <a:ext cx="4828510" cy="1540676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58B92C78-491F-B738-3545-FC1F071FA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252" y="1620023"/>
            <a:ext cx="4586593" cy="143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479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2D252-2538-92B9-9BCA-1446A1AA7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>
            <a:extLst>
              <a:ext uri="{FF2B5EF4-FFF2-40B4-BE49-F238E27FC236}">
                <a16:creationId xmlns:a16="http://schemas.microsoft.com/office/drawing/2014/main" id="{64D2DA30-1E7D-B8A2-A7A4-F2FF2EB5E8E7}"/>
              </a:ext>
            </a:extLst>
          </p:cNvPr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>
            <a:extLst>
              <a:ext uri="{FF2B5EF4-FFF2-40B4-BE49-F238E27FC236}">
                <a16:creationId xmlns:a16="http://schemas.microsoft.com/office/drawing/2014/main" id="{B4A67146-E0E8-FF09-AB02-ECC4C8805FA0}"/>
              </a:ext>
            </a:extLst>
          </p:cNvPr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>
            <a:extLst>
              <a:ext uri="{FF2B5EF4-FFF2-40B4-BE49-F238E27FC236}">
                <a16:creationId xmlns:a16="http://schemas.microsoft.com/office/drawing/2014/main" id="{A762BAAB-F4ED-89EC-D496-55DEE2B1F25F}"/>
              </a:ext>
            </a:extLst>
          </p:cNvPr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>
            <a:extLst>
              <a:ext uri="{FF2B5EF4-FFF2-40B4-BE49-F238E27FC236}">
                <a16:creationId xmlns:a16="http://schemas.microsoft.com/office/drawing/2014/main" id="{7E116A34-8111-78D7-CF61-CF2CBE34ADBC}"/>
              </a:ext>
            </a:extLst>
          </p:cNvPr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>
            <a:extLst>
              <a:ext uri="{FF2B5EF4-FFF2-40B4-BE49-F238E27FC236}">
                <a16:creationId xmlns:a16="http://schemas.microsoft.com/office/drawing/2014/main" id="{D7B11555-7767-C876-CD58-DDD2AB95000B}"/>
              </a:ext>
            </a:extLst>
          </p:cNvPr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6886E78C-E582-7842-031F-FE75D794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38" y="337831"/>
            <a:ext cx="3600811" cy="572701"/>
          </a:xfrm>
        </p:spPr>
        <p:txBody>
          <a:bodyPr>
            <a:normAutofit fontScale="90000"/>
          </a:bodyPr>
          <a:lstStyle/>
          <a:p>
            <a:r>
              <a:rPr lang="pl-PL" b="1" dirty="0">
                <a:solidFill>
                  <a:schemeClr val="accent4"/>
                </a:solidFill>
              </a:rPr>
              <a:t>IQM </a:t>
            </a:r>
            <a:r>
              <a:rPr lang="pl-PL" b="1" dirty="0" err="1">
                <a:solidFill>
                  <a:schemeClr val="accent4"/>
                </a:solidFill>
              </a:rPr>
              <a:t>Garnet</a:t>
            </a:r>
            <a:r>
              <a:rPr lang="pl-PL" b="1" dirty="0">
                <a:solidFill>
                  <a:schemeClr val="accent4"/>
                </a:solidFill>
              </a:rPr>
              <a:t> </a:t>
            </a:r>
            <a:r>
              <a:rPr lang="pl-PL" b="1" dirty="0" err="1">
                <a:solidFill>
                  <a:schemeClr val="accent4"/>
                </a:solidFill>
              </a:rPr>
              <a:t>Processor</a:t>
            </a:r>
            <a:endParaRPr lang="pl-PL" b="1" dirty="0">
              <a:solidFill>
                <a:schemeClr val="accent4"/>
              </a:solidFill>
            </a:endParaRP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BB63182F-A408-A423-35E0-FB6CF7DB3E0C}"/>
              </a:ext>
            </a:extLst>
          </p:cNvPr>
          <p:cNvSpPr txBox="1">
            <a:spLocks/>
          </p:cNvSpPr>
          <p:nvPr/>
        </p:nvSpPr>
        <p:spPr>
          <a:xfrm>
            <a:off x="262530" y="819485"/>
            <a:ext cx="4929624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pl-PL" dirty="0"/>
              <a:t>20 </a:t>
            </a:r>
            <a:r>
              <a:rPr lang="pl-PL" dirty="0" err="1"/>
              <a:t>qubits</a:t>
            </a:r>
            <a:r>
              <a:rPr lang="pl-PL" dirty="0"/>
              <a:t> </a:t>
            </a:r>
            <a:r>
              <a:rPr lang="pl-PL" dirty="0" err="1"/>
              <a:t>superconducting</a:t>
            </a:r>
            <a:r>
              <a:rPr lang="pl-PL" dirty="0"/>
              <a:t> system</a:t>
            </a:r>
          </a:p>
          <a:p>
            <a:pPr hangingPunct="1"/>
            <a:r>
              <a:rPr lang="pl-PL" dirty="0" err="1"/>
              <a:t>Repetition</a:t>
            </a:r>
            <a:r>
              <a:rPr lang="pl-PL" dirty="0"/>
              <a:t> 25 </a:t>
            </a:r>
            <a:r>
              <a:rPr lang="pl-PL" dirty="0" err="1"/>
              <a:t>shots</a:t>
            </a:r>
            <a:r>
              <a:rPr lang="pl-PL" dirty="0"/>
              <a:t> 5000  </a:t>
            </a:r>
          </a:p>
          <a:p>
            <a:pPr hangingPunct="1"/>
            <a:endParaRPr lang="pl-PL" dirty="0"/>
          </a:p>
          <a:p>
            <a:pPr hangingPunct="1"/>
            <a:br>
              <a:rPr lang="pl-PL" dirty="0"/>
            </a:br>
            <a:br>
              <a:rPr lang="pl-PL" dirty="0"/>
            </a:br>
            <a:br>
              <a:rPr lang="pl-PL" b="1" dirty="0"/>
            </a:b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072AB81-DA01-8EC8-9A84-B0DC558F4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001" y="331145"/>
            <a:ext cx="990599" cy="64879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D6DDB3F-9107-D2F4-549C-06EA7A57C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243" y="2631440"/>
            <a:ext cx="3523252" cy="234883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5F183549-6B83-C32A-2B80-5920B2063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75" y="3667756"/>
            <a:ext cx="4921944" cy="1312518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0964D98B-9422-81E7-DD55-93EF49505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74" y="1494305"/>
            <a:ext cx="4212105" cy="2106053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FB4AC5E6-6770-22D1-EA4E-E1F3EEE376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152" y="244447"/>
            <a:ext cx="3729343" cy="209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3838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F0875-A553-A7F2-6F6C-3B41A2C8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>
            <a:extLst>
              <a:ext uri="{FF2B5EF4-FFF2-40B4-BE49-F238E27FC236}">
                <a16:creationId xmlns:a16="http://schemas.microsoft.com/office/drawing/2014/main" id="{CD7BFDFC-6A9B-4AF5-ED44-97515F8BFCA1}"/>
              </a:ext>
            </a:extLst>
          </p:cNvPr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>
            <a:extLst>
              <a:ext uri="{FF2B5EF4-FFF2-40B4-BE49-F238E27FC236}">
                <a16:creationId xmlns:a16="http://schemas.microsoft.com/office/drawing/2014/main" id="{9A6F733C-2FDA-05B7-68BA-7BCDCA79487B}"/>
              </a:ext>
            </a:extLst>
          </p:cNvPr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>
            <a:extLst>
              <a:ext uri="{FF2B5EF4-FFF2-40B4-BE49-F238E27FC236}">
                <a16:creationId xmlns:a16="http://schemas.microsoft.com/office/drawing/2014/main" id="{18862924-FFA7-40D0-6B50-31A9BECBE5E0}"/>
              </a:ext>
            </a:extLst>
          </p:cNvPr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>
            <a:extLst>
              <a:ext uri="{FF2B5EF4-FFF2-40B4-BE49-F238E27FC236}">
                <a16:creationId xmlns:a16="http://schemas.microsoft.com/office/drawing/2014/main" id="{E251BCB6-C54A-468D-01FD-1BE186428BF2}"/>
              </a:ext>
            </a:extLst>
          </p:cNvPr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>
            <a:extLst>
              <a:ext uri="{FF2B5EF4-FFF2-40B4-BE49-F238E27FC236}">
                <a16:creationId xmlns:a16="http://schemas.microsoft.com/office/drawing/2014/main" id="{EFD91C8A-5712-3A73-5094-ADF9A42E8196}"/>
              </a:ext>
            </a:extLst>
          </p:cNvPr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1A84BF1-0842-E289-0A96-17AC2C92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38" y="337831"/>
            <a:ext cx="3600811" cy="572701"/>
          </a:xfrm>
        </p:spPr>
        <p:txBody>
          <a:bodyPr>
            <a:normAutofit fontScale="90000"/>
          </a:bodyPr>
          <a:lstStyle/>
          <a:p>
            <a:r>
              <a:rPr lang="pl-PL" b="1" dirty="0" err="1">
                <a:solidFill>
                  <a:schemeClr val="accent4"/>
                </a:solidFill>
              </a:rPr>
              <a:t>IonQ</a:t>
            </a:r>
            <a:r>
              <a:rPr lang="pl-PL" b="1" dirty="0">
                <a:solidFill>
                  <a:schemeClr val="accent4"/>
                </a:solidFill>
              </a:rPr>
              <a:t> Forte </a:t>
            </a:r>
            <a:r>
              <a:rPr lang="pl-PL" b="1" dirty="0" err="1">
                <a:solidFill>
                  <a:schemeClr val="accent4"/>
                </a:solidFill>
              </a:rPr>
              <a:t>Processor</a:t>
            </a:r>
            <a:endParaRPr lang="pl-PL" b="1" dirty="0">
              <a:solidFill>
                <a:schemeClr val="accent4"/>
              </a:solidFill>
            </a:endParaRP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0A47E1F5-1DB6-9152-9D40-7E5F31E8D803}"/>
              </a:ext>
            </a:extLst>
          </p:cNvPr>
          <p:cNvSpPr txBox="1">
            <a:spLocks/>
          </p:cNvSpPr>
          <p:nvPr/>
        </p:nvSpPr>
        <p:spPr>
          <a:xfrm>
            <a:off x="262530" y="819485"/>
            <a:ext cx="4929624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pl-PL" dirty="0"/>
              <a:t>36 </a:t>
            </a:r>
            <a:r>
              <a:rPr lang="pl-PL" dirty="0" err="1"/>
              <a:t>qubits</a:t>
            </a:r>
            <a:r>
              <a:rPr lang="pl-PL" dirty="0"/>
              <a:t> </a:t>
            </a:r>
            <a:r>
              <a:rPr lang="pl-PL" dirty="0" err="1"/>
              <a:t>trapped-ion</a:t>
            </a:r>
            <a:endParaRPr lang="pl-PL" dirty="0"/>
          </a:p>
          <a:p>
            <a:pPr hangingPunct="1"/>
            <a:r>
              <a:rPr lang="pl-PL" dirty="0" err="1"/>
              <a:t>Repetition</a:t>
            </a:r>
            <a:r>
              <a:rPr lang="pl-PL" dirty="0"/>
              <a:t> 15 </a:t>
            </a:r>
            <a:r>
              <a:rPr lang="pl-PL" dirty="0" err="1"/>
              <a:t>shots</a:t>
            </a:r>
            <a:r>
              <a:rPr lang="pl-PL" dirty="0"/>
              <a:t> 5000  </a:t>
            </a:r>
          </a:p>
          <a:p>
            <a:pPr hangingPunct="1"/>
            <a:endParaRPr lang="pl-PL" dirty="0"/>
          </a:p>
          <a:p>
            <a:pPr hangingPunct="1"/>
            <a:br>
              <a:rPr lang="pl-PL" dirty="0"/>
            </a:br>
            <a:br>
              <a:rPr lang="pl-PL" dirty="0"/>
            </a:br>
            <a:br>
              <a:rPr lang="pl-PL" b="1" dirty="0"/>
            </a:b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FD4A370-7490-9F59-F4FE-A72AFDA1A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404" y="292279"/>
            <a:ext cx="1034430" cy="591103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737037ED-92CA-B42B-330B-39A84C06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30" y="3787587"/>
            <a:ext cx="4023212" cy="1072856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73E59C26-DD15-B818-100E-287A9C83F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776" y="2635793"/>
            <a:ext cx="3455381" cy="2303587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5F70861A-8550-6F8E-A567-702FBAF1E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313" y="1613090"/>
            <a:ext cx="4023212" cy="2011606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81D08C75-9B39-B8A1-C747-420B3C5D40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771" y="164547"/>
            <a:ext cx="4023212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4458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232B1-DD40-1A1F-0754-7D306AB2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>
            <a:extLst>
              <a:ext uri="{FF2B5EF4-FFF2-40B4-BE49-F238E27FC236}">
                <a16:creationId xmlns:a16="http://schemas.microsoft.com/office/drawing/2014/main" id="{4CB1C88C-FBE7-1364-6322-840C226C8CA7}"/>
              </a:ext>
            </a:extLst>
          </p:cNvPr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>
            <a:extLst>
              <a:ext uri="{FF2B5EF4-FFF2-40B4-BE49-F238E27FC236}">
                <a16:creationId xmlns:a16="http://schemas.microsoft.com/office/drawing/2014/main" id="{0B969651-B5F6-6885-8814-28F6BFC4BE92}"/>
              </a:ext>
            </a:extLst>
          </p:cNvPr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>
            <a:extLst>
              <a:ext uri="{FF2B5EF4-FFF2-40B4-BE49-F238E27FC236}">
                <a16:creationId xmlns:a16="http://schemas.microsoft.com/office/drawing/2014/main" id="{96FDC11E-AD20-993C-F3E3-1772875CB727}"/>
              </a:ext>
            </a:extLst>
          </p:cNvPr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>
            <a:extLst>
              <a:ext uri="{FF2B5EF4-FFF2-40B4-BE49-F238E27FC236}">
                <a16:creationId xmlns:a16="http://schemas.microsoft.com/office/drawing/2014/main" id="{775C7D01-82AE-E514-0265-56DC0C6744EE}"/>
              </a:ext>
            </a:extLst>
          </p:cNvPr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>
            <a:extLst>
              <a:ext uri="{FF2B5EF4-FFF2-40B4-BE49-F238E27FC236}">
                <a16:creationId xmlns:a16="http://schemas.microsoft.com/office/drawing/2014/main" id="{0D2E59CF-ED3D-3164-DC19-32AE921D0A95}"/>
              </a:ext>
            </a:extLst>
          </p:cNvPr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225585FC-2337-DD40-96D8-BB8FE664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37" y="337831"/>
            <a:ext cx="4570155" cy="572701"/>
          </a:xfrm>
        </p:spPr>
        <p:txBody>
          <a:bodyPr>
            <a:normAutofit fontScale="90000"/>
          </a:bodyPr>
          <a:lstStyle/>
          <a:p>
            <a:r>
              <a:rPr lang="pl-PL" b="1" dirty="0" err="1">
                <a:solidFill>
                  <a:schemeClr val="accent4"/>
                </a:solidFill>
              </a:rPr>
              <a:t>Rigetti</a:t>
            </a:r>
            <a:r>
              <a:rPr lang="pl-PL" b="1" dirty="0">
                <a:solidFill>
                  <a:schemeClr val="accent4"/>
                </a:solidFill>
              </a:rPr>
              <a:t> Ankaa-3 Processor</a:t>
            </a: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6B2C439A-9906-009D-2B3B-A437CDDB1694}"/>
              </a:ext>
            </a:extLst>
          </p:cNvPr>
          <p:cNvSpPr txBox="1">
            <a:spLocks/>
          </p:cNvSpPr>
          <p:nvPr/>
        </p:nvSpPr>
        <p:spPr>
          <a:xfrm>
            <a:off x="262530" y="819485"/>
            <a:ext cx="4929624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pl-PL" dirty="0"/>
              <a:t>84 </a:t>
            </a:r>
            <a:r>
              <a:rPr lang="pl-PL" dirty="0" err="1"/>
              <a:t>qubits</a:t>
            </a:r>
            <a:r>
              <a:rPr lang="pl-PL" dirty="0"/>
              <a:t> </a:t>
            </a:r>
            <a:r>
              <a:rPr lang="pl-PL" dirty="0" err="1"/>
              <a:t>superconducting</a:t>
            </a:r>
            <a:endParaRPr lang="pl-PL" dirty="0"/>
          </a:p>
          <a:p>
            <a:pPr hangingPunct="1"/>
            <a:r>
              <a:rPr lang="pl-PL" dirty="0" err="1"/>
              <a:t>Repetition</a:t>
            </a:r>
            <a:r>
              <a:rPr lang="pl-PL" dirty="0"/>
              <a:t> 15 </a:t>
            </a:r>
            <a:r>
              <a:rPr lang="pl-PL" dirty="0" err="1"/>
              <a:t>shots</a:t>
            </a:r>
            <a:r>
              <a:rPr lang="pl-PL" dirty="0"/>
              <a:t> 5000  </a:t>
            </a:r>
          </a:p>
          <a:p>
            <a:pPr hangingPunct="1"/>
            <a:endParaRPr lang="pl-PL" dirty="0"/>
          </a:p>
          <a:p>
            <a:pPr hangingPunct="1"/>
            <a:br>
              <a:rPr lang="pl-PL" dirty="0"/>
            </a:br>
            <a:br>
              <a:rPr lang="pl-PL" dirty="0"/>
            </a:br>
            <a:br>
              <a:rPr lang="pl-PL" b="1" dirty="0"/>
            </a:b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CD0FC4A-9103-5153-A4DA-80D8201A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00" y="3786989"/>
            <a:ext cx="4421881" cy="1179168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36FE9582-AFE7-53DF-9BB3-E0E7A8ED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227" y="2655258"/>
            <a:ext cx="3408045" cy="2272030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88F982A0-27C9-BDBD-77DA-1A668346E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00" y="1505675"/>
            <a:ext cx="4264300" cy="2132150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D5BEB14A-D462-3E26-21BA-B2F9A0651F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20" y="216212"/>
            <a:ext cx="3873480" cy="217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9641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CE2BF-B2E5-B7B5-7CE6-127A268F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>
            <a:extLst>
              <a:ext uri="{FF2B5EF4-FFF2-40B4-BE49-F238E27FC236}">
                <a16:creationId xmlns:a16="http://schemas.microsoft.com/office/drawing/2014/main" id="{CCB0F104-FCD6-1C7E-F57D-5561E2012330}"/>
              </a:ext>
            </a:extLst>
          </p:cNvPr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>
            <a:extLst>
              <a:ext uri="{FF2B5EF4-FFF2-40B4-BE49-F238E27FC236}">
                <a16:creationId xmlns:a16="http://schemas.microsoft.com/office/drawing/2014/main" id="{A62329AD-3F20-0636-C33E-F6DD83872B8D}"/>
              </a:ext>
            </a:extLst>
          </p:cNvPr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>
            <a:extLst>
              <a:ext uri="{FF2B5EF4-FFF2-40B4-BE49-F238E27FC236}">
                <a16:creationId xmlns:a16="http://schemas.microsoft.com/office/drawing/2014/main" id="{CC20AF4D-B30E-1DCB-CBB8-0FC92FC46CD1}"/>
              </a:ext>
            </a:extLst>
          </p:cNvPr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>
            <a:extLst>
              <a:ext uri="{FF2B5EF4-FFF2-40B4-BE49-F238E27FC236}">
                <a16:creationId xmlns:a16="http://schemas.microsoft.com/office/drawing/2014/main" id="{E0A7EC89-0324-52C3-FA23-E51450C0B460}"/>
              </a:ext>
            </a:extLst>
          </p:cNvPr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>
            <a:extLst>
              <a:ext uri="{FF2B5EF4-FFF2-40B4-BE49-F238E27FC236}">
                <a16:creationId xmlns:a16="http://schemas.microsoft.com/office/drawing/2014/main" id="{F111DD70-CAC7-A14A-BF2B-5CAF64F5AD6C}"/>
              </a:ext>
            </a:extLst>
          </p:cNvPr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88518F2C-0498-C4F1-F7F8-8787A14C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43" y="208279"/>
            <a:ext cx="4119362" cy="572701"/>
          </a:xfrm>
        </p:spPr>
        <p:txBody>
          <a:bodyPr>
            <a:normAutofit fontScale="90000"/>
          </a:bodyPr>
          <a:lstStyle/>
          <a:p>
            <a:r>
              <a:rPr lang="pl-PL" b="1" dirty="0">
                <a:solidFill>
                  <a:schemeClr val="accent4"/>
                </a:solidFill>
              </a:rPr>
              <a:t>IBM Fez Heron</a:t>
            </a: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7E224467-975E-4575-5803-58F88D4BFA4A}"/>
              </a:ext>
            </a:extLst>
          </p:cNvPr>
          <p:cNvSpPr txBox="1">
            <a:spLocks/>
          </p:cNvSpPr>
          <p:nvPr/>
        </p:nvSpPr>
        <p:spPr>
          <a:xfrm>
            <a:off x="258656" y="728930"/>
            <a:ext cx="4929624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pl-PL" dirty="0"/>
              <a:t>156 </a:t>
            </a:r>
            <a:r>
              <a:rPr lang="pl-PL" dirty="0" err="1"/>
              <a:t>qubits</a:t>
            </a:r>
            <a:r>
              <a:rPr lang="pl-PL" dirty="0"/>
              <a:t> </a:t>
            </a:r>
            <a:r>
              <a:rPr lang="pl-PL" dirty="0" err="1"/>
              <a:t>superconducting</a:t>
            </a:r>
            <a:endParaRPr lang="pl-PL" dirty="0"/>
          </a:p>
          <a:p>
            <a:pPr hangingPunct="1"/>
            <a:r>
              <a:rPr lang="pl-PL" dirty="0" err="1"/>
              <a:t>Repetition</a:t>
            </a:r>
            <a:r>
              <a:rPr lang="pl-PL" dirty="0"/>
              <a:t> 20 </a:t>
            </a:r>
            <a:r>
              <a:rPr lang="pl-PL" dirty="0" err="1"/>
              <a:t>shots</a:t>
            </a:r>
            <a:r>
              <a:rPr lang="pl-PL" dirty="0"/>
              <a:t> 2000, R 50 s 5000 </a:t>
            </a:r>
          </a:p>
          <a:p>
            <a:pPr hangingPunct="1"/>
            <a:endParaRPr lang="pl-PL" dirty="0"/>
          </a:p>
          <a:p>
            <a:pPr hangingPunct="1"/>
            <a:br>
              <a:rPr lang="pl-PL" dirty="0"/>
            </a:br>
            <a:br>
              <a:rPr lang="pl-PL" dirty="0"/>
            </a:br>
            <a:br>
              <a:rPr lang="pl-PL" b="1" dirty="0"/>
            </a:b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9730C1B3-9A6D-93CF-8B63-F90EAF71B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544" y="151638"/>
            <a:ext cx="3355848" cy="188561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4B383B07-9576-A4EE-0FD1-E592B7FDD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7" y="1378983"/>
            <a:ext cx="2799477" cy="1669449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ECE92CD3-2373-9F8C-AFED-59BAC443D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695" y="1378982"/>
            <a:ext cx="2803416" cy="1669450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1A80A2DB-82B3-234F-0758-4C5B03CEA1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8" y="3075980"/>
            <a:ext cx="3169022" cy="2004891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1AE18A16-F518-6C55-B926-9864D72480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527" y="3079595"/>
            <a:ext cx="3163308" cy="200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0386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1C0239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3EFD8-56C4-D49A-98A4-2A96E494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>
            <a:extLst>
              <a:ext uri="{FF2B5EF4-FFF2-40B4-BE49-F238E27FC236}">
                <a16:creationId xmlns:a16="http://schemas.microsoft.com/office/drawing/2014/main" id="{C2EB9694-0ABC-E5A4-F87C-19FFFB92D69D}"/>
              </a:ext>
            </a:extLst>
          </p:cNvPr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>
            <a:extLst>
              <a:ext uri="{FF2B5EF4-FFF2-40B4-BE49-F238E27FC236}">
                <a16:creationId xmlns:a16="http://schemas.microsoft.com/office/drawing/2014/main" id="{4438F51A-3894-9FC1-0DB5-2FC4899756AC}"/>
              </a:ext>
            </a:extLst>
          </p:cNvPr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>
            <a:extLst>
              <a:ext uri="{FF2B5EF4-FFF2-40B4-BE49-F238E27FC236}">
                <a16:creationId xmlns:a16="http://schemas.microsoft.com/office/drawing/2014/main" id="{27CB6F7A-19CF-C72D-63C4-3833C94D4CEF}"/>
              </a:ext>
            </a:extLst>
          </p:cNvPr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>
            <a:extLst>
              <a:ext uri="{FF2B5EF4-FFF2-40B4-BE49-F238E27FC236}">
                <a16:creationId xmlns:a16="http://schemas.microsoft.com/office/drawing/2014/main" id="{6EC0B2FB-EE30-B44C-74C7-CC2FCAAE5BCE}"/>
              </a:ext>
            </a:extLst>
          </p:cNvPr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>
            <a:extLst>
              <a:ext uri="{FF2B5EF4-FFF2-40B4-BE49-F238E27FC236}">
                <a16:creationId xmlns:a16="http://schemas.microsoft.com/office/drawing/2014/main" id="{B6C3BEFD-6914-0E71-3227-F4B5D3C72133}"/>
              </a:ext>
            </a:extLst>
          </p:cNvPr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118CCA48-16CF-3F98-5DB7-740C4748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38" y="337831"/>
            <a:ext cx="4119362" cy="572701"/>
          </a:xfrm>
        </p:spPr>
        <p:txBody>
          <a:bodyPr>
            <a:normAutofit fontScale="90000"/>
          </a:bodyPr>
          <a:lstStyle/>
          <a:p>
            <a:r>
              <a:rPr lang="pl-PL" b="1" dirty="0">
                <a:solidFill>
                  <a:schemeClr val="accent4"/>
                </a:solidFill>
              </a:rPr>
              <a:t>QPU </a:t>
            </a:r>
            <a:r>
              <a:rPr lang="pl-PL" b="1" dirty="0" err="1">
                <a:solidFill>
                  <a:schemeClr val="accent4"/>
                </a:solidFill>
              </a:rPr>
              <a:t>Summary</a:t>
            </a:r>
            <a:endParaRPr lang="pl-PL" b="1" dirty="0">
              <a:solidFill>
                <a:schemeClr val="accent4"/>
              </a:solidFill>
            </a:endParaRP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6906503A-AA02-D275-CC15-72B02A3B9B56}"/>
              </a:ext>
            </a:extLst>
          </p:cNvPr>
          <p:cNvSpPr txBox="1">
            <a:spLocks/>
          </p:cNvSpPr>
          <p:nvPr/>
        </p:nvSpPr>
        <p:spPr>
          <a:xfrm>
            <a:off x="262530" y="819485"/>
            <a:ext cx="4929624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endParaRPr lang="pl-PL" dirty="0"/>
          </a:p>
          <a:p>
            <a:pPr hangingPunct="1"/>
            <a:br>
              <a:rPr lang="pl-PL" dirty="0"/>
            </a:br>
            <a:br>
              <a:rPr lang="pl-PL" dirty="0"/>
            </a:br>
            <a:br>
              <a:rPr lang="pl-PL" b="1" dirty="0"/>
            </a:b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1C689B9-0082-B139-3DC2-5235B876D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384300"/>
            <a:ext cx="72136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4155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84000">
              <a:srgbClr val="210C3A"/>
            </a:gs>
            <a:gs pos="100000">
              <a:srgbClr val="92D050"/>
            </a:gs>
          </a:gsLst>
          <a:lin ang="5400012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D1106-433A-34D1-D1E3-38E7CCADC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9;p17">
            <a:extLst>
              <a:ext uri="{FF2B5EF4-FFF2-40B4-BE49-F238E27FC236}">
                <a16:creationId xmlns:a16="http://schemas.microsoft.com/office/drawing/2014/main" id="{D9306E47-49FB-F879-33E9-658ECA17D3E0}"/>
              </a:ext>
            </a:extLst>
          </p:cNvPr>
          <p:cNvSpPr/>
          <p:nvPr/>
        </p:nvSpPr>
        <p:spPr>
          <a:xfrm flipH="1">
            <a:off x="6962250" y="12825"/>
            <a:ext cx="2173201" cy="51372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3" name="Google Shape;120;p17">
            <a:extLst>
              <a:ext uri="{FF2B5EF4-FFF2-40B4-BE49-F238E27FC236}">
                <a16:creationId xmlns:a16="http://schemas.microsoft.com/office/drawing/2014/main" id="{13F0F61D-A45E-493C-3DDC-EF5E82896201}"/>
              </a:ext>
            </a:extLst>
          </p:cNvPr>
          <p:cNvSpPr/>
          <p:nvPr/>
        </p:nvSpPr>
        <p:spPr>
          <a:xfrm>
            <a:off x="3951849" y="12825"/>
            <a:ext cx="5225401" cy="2867701"/>
          </a:xfrm>
          <a:prstGeom prst="line">
            <a:avLst/>
          </a:prstGeom>
          <a:ln>
            <a:solidFill>
              <a:srgbClr val="FCB42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4" name="Google Shape;121;p17">
            <a:extLst>
              <a:ext uri="{FF2B5EF4-FFF2-40B4-BE49-F238E27FC236}">
                <a16:creationId xmlns:a16="http://schemas.microsoft.com/office/drawing/2014/main" id="{1F18427D-2B67-8BFC-4E28-4341104BEEA7}"/>
              </a:ext>
            </a:extLst>
          </p:cNvPr>
          <p:cNvSpPr/>
          <p:nvPr/>
        </p:nvSpPr>
        <p:spPr>
          <a:xfrm>
            <a:off x="6428078" y="1344123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5" name="Google Shape;122;p17">
            <a:extLst>
              <a:ext uri="{FF2B5EF4-FFF2-40B4-BE49-F238E27FC236}">
                <a16:creationId xmlns:a16="http://schemas.microsoft.com/office/drawing/2014/main" id="{2DE0C564-EABB-3BA2-C4F0-55DCBFA89938}"/>
              </a:ext>
            </a:extLst>
          </p:cNvPr>
          <p:cNvSpPr/>
          <p:nvPr/>
        </p:nvSpPr>
        <p:spPr>
          <a:xfrm>
            <a:off x="8740372" y="883382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66" name="Google Shape;123;p17">
            <a:extLst>
              <a:ext uri="{FF2B5EF4-FFF2-40B4-BE49-F238E27FC236}">
                <a16:creationId xmlns:a16="http://schemas.microsoft.com/office/drawing/2014/main" id="{C92B5054-3F44-500A-E0CA-25BB27DB0249}"/>
              </a:ext>
            </a:extLst>
          </p:cNvPr>
          <p:cNvSpPr/>
          <p:nvPr/>
        </p:nvSpPr>
        <p:spPr>
          <a:xfrm>
            <a:off x="8124790" y="2285624"/>
            <a:ext cx="54301" cy="54301"/>
          </a:xfrm>
          <a:prstGeom prst="ellipse">
            <a:avLst/>
          </a:prstGeom>
          <a:solidFill>
            <a:srgbClr val="FCB42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153ECAE0-EA69-DE4D-A81C-9CE6462F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38" y="337831"/>
            <a:ext cx="4119362" cy="572701"/>
          </a:xfrm>
          <a:noFill/>
        </p:spPr>
        <p:txBody>
          <a:bodyPr>
            <a:normAutofit fontScale="90000"/>
          </a:bodyPr>
          <a:lstStyle/>
          <a:p>
            <a:r>
              <a:rPr lang="pl-PL" b="1" dirty="0" err="1">
                <a:solidFill>
                  <a:schemeClr val="accent4"/>
                </a:solidFill>
              </a:rPr>
              <a:t>Summary</a:t>
            </a:r>
            <a:endParaRPr lang="pl-PL" b="1" dirty="0">
              <a:solidFill>
                <a:schemeClr val="accent4"/>
              </a:solidFill>
            </a:endParaRP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CD03A87C-02C7-C420-B24E-F98D6C440CDE}"/>
              </a:ext>
            </a:extLst>
          </p:cNvPr>
          <p:cNvSpPr txBox="1">
            <a:spLocks/>
          </p:cNvSpPr>
          <p:nvPr/>
        </p:nvSpPr>
        <p:spPr>
          <a:xfrm>
            <a:off x="262530" y="819485"/>
            <a:ext cx="4929624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endParaRPr lang="pl-PL" dirty="0"/>
          </a:p>
          <a:p>
            <a:pPr hangingPunct="1"/>
            <a:br>
              <a:rPr lang="pl-PL" dirty="0"/>
            </a:br>
            <a:br>
              <a:rPr lang="pl-PL" dirty="0"/>
            </a:br>
            <a:br>
              <a:rPr lang="pl-PL" b="1" dirty="0"/>
            </a:br>
            <a:endParaRPr lang="pl-PL" dirty="0"/>
          </a:p>
        </p:txBody>
      </p:sp>
      <p:sp>
        <p:nvSpPr>
          <p:cNvPr id="6" name="Google Shape;90;p15">
            <a:extLst>
              <a:ext uri="{FF2B5EF4-FFF2-40B4-BE49-F238E27FC236}">
                <a16:creationId xmlns:a16="http://schemas.microsoft.com/office/drawing/2014/main" id="{39587320-5C7B-E323-E9B0-CCEFDA8BABB7}"/>
              </a:ext>
            </a:extLst>
          </p:cNvPr>
          <p:cNvSpPr txBox="1">
            <a:spLocks/>
          </p:cNvSpPr>
          <p:nvPr/>
        </p:nvSpPr>
        <p:spPr>
          <a:xfrm>
            <a:off x="383421" y="883382"/>
            <a:ext cx="6512292" cy="1456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285750" indent="-285750" hangingPunct="1">
              <a:buFontTx/>
              <a:buChar char="-"/>
            </a:pPr>
            <a:r>
              <a:rPr lang="pl-PL" b="1" dirty="0">
                <a:latin typeface="+mj-lt"/>
              </a:rPr>
              <a:t>QNN-</a:t>
            </a:r>
            <a:r>
              <a:rPr lang="pl-PL" b="1" dirty="0" err="1">
                <a:latin typeface="+mj-lt"/>
              </a:rPr>
              <a:t>based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framework</a:t>
            </a:r>
            <a:r>
              <a:rPr lang="pl-PL" b="1" dirty="0">
                <a:latin typeface="+mj-lt"/>
              </a:rPr>
              <a:t> for </a:t>
            </a:r>
            <a:r>
              <a:rPr lang="pl-PL" b="1" dirty="0" err="1">
                <a:latin typeface="+mj-lt"/>
              </a:rPr>
              <a:t>option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pricing</a:t>
            </a:r>
            <a:r>
              <a:rPr lang="pl-PL" b="1" dirty="0">
                <a:latin typeface="+mj-lt"/>
              </a:rPr>
              <a:t> on NISQ devices</a:t>
            </a:r>
          </a:p>
          <a:p>
            <a:pPr marL="285750" indent="-285750" hangingPunct="1">
              <a:buFontTx/>
              <a:buChar char="-"/>
            </a:pPr>
            <a:r>
              <a:rPr lang="pl-PL" b="1" dirty="0">
                <a:latin typeface="+mj-lt"/>
              </a:rPr>
              <a:t>Black-</a:t>
            </a:r>
            <a:r>
              <a:rPr lang="pl-PL" b="1" dirty="0" err="1">
                <a:latin typeface="+mj-lt"/>
              </a:rPr>
              <a:t>Scholes</a:t>
            </a:r>
            <a:r>
              <a:rPr lang="pl-PL" b="1" dirty="0">
                <a:latin typeface="+mj-lt"/>
              </a:rPr>
              <a:t>-</a:t>
            </a:r>
            <a:r>
              <a:rPr lang="pl-PL" b="1" dirty="0" err="1">
                <a:latin typeface="+mj-lt"/>
              </a:rPr>
              <a:t>Merton</a:t>
            </a:r>
            <a:r>
              <a:rPr lang="pl-PL" b="1" dirty="0">
                <a:latin typeface="+mj-lt"/>
              </a:rPr>
              <a:t> model as a benchmark</a:t>
            </a:r>
          </a:p>
          <a:p>
            <a:pPr marL="285750" indent="-285750" hangingPunct="1">
              <a:buFontTx/>
              <a:buChar char="-"/>
            </a:pPr>
            <a:r>
              <a:rPr lang="pl-PL" b="1" dirty="0">
                <a:latin typeface="+mj-lt"/>
              </a:rPr>
              <a:t>End-to-End </a:t>
            </a:r>
            <a:r>
              <a:rPr lang="pl-PL" b="1" dirty="0" err="1">
                <a:latin typeface="+mj-lt"/>
              </a:rPr>
              <a:t>implementations</a:t>
            </a:r>
            <a:r>
              <a:rPr lang="pl-PL" b="1" dirty="0">
                <a:latin typeface="+mj-lt"/>
              </a:rPr>
              <a:t> of a </a:t>
            </a:r>
            <a:r>
              <a:rPr lang="pl-PL" b="1" dirty="0" err="1">
                <a:latin typeface="+mj-lt"/>
              </a:rPr>
              <a:t>fully</a:t>
            </a:r>
            <a:r>
              <a:rPr lang="pl-PL" b="1" dirty="0">
                <a:latin typeface="+mj-lt"/>
              </a:rPr>
              <a:t> QNN </a:t>
            </a:r>
            <a:r>
              <a:rPr lang="pl-PL" b="1" dirty="0" err="1">
                <a:latin typeface="+mj-lt"/>
              </a:rPr>
              <a:t>pricing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workflow</a:t>
            </a:r>
            <a:endParaRPr lang="pl-PL" b="1" dirty="0">
              <a:latin typeface="+mj-lt"/>
            </a:endParaRPr>
          </a:p>
          <a:p>
            <a:pPr marL="285750" indent="-285750" hangingPunct="1">
              <a:buFontTx/>
              <a:buChar char="-"/>
            </a:pPr>
            <a:r>
              <a:rPr lang="pl-PL" b="1" dirty="0">
                <a:latin typeface="+mj-lt"/>
              </a:rPr>
              <a:t>IBM Fez, IQM </a:t>
            </a:r>
            <a:r>
              <a:rPr lang="pl-PL" b="1" dirty="0" err="1">
                <a:latin typeface="+mj-lt"/>
              </a:rPr>
              <a:t>Garnet</a:t>
            </a:r>
            <a:r>
              <a:rPr lang="pl-PL" b="1" dirty="0">
                <a:latin typeface="+mj-lt"/>
              </a:rPr>
              <a:t>, </a:t>
            </a:r>
            <a:r>
              <a:rPr lang="pl-PL" b="1" dirty="0" err="1">
                <a:latin typeface="+mj-lt"/>
              </a:rPr>
              <a:t>IonQ</a:t>
            </a:r>
            <a:r>
              <a:rPr lang="pl-PL" b="1" dirty="0">
                <a:latin typeface="+mj-lt"/>
              </a:rPr>
              <a:t> Forte, </a:t>
            </a:r>
            <a:r>
              <a:rPr lang="pl-PL" b="1" dirty="0" err="1">
                <a:latin typeface="+mj-lt"/>
              </a:rPr>
              <a:t>Rigetti</a:t>
            </a:r>
            <a:r>
              <a:rPr lang="pl-PL" b="1" dirty="0">
                <a:latin typeface="+mj-lt"/>
              </a:rPr>
              <a:t> Ankaa-3</a:t>
            </a:r>
          </a:p>
          <a:p>
            <a:pPr marL="285750" indent="-285750" hangingPunct="1">
              <a:buFontTx/>
              <a:buChar char="-"/>
            </a:pPr>
            <a:r>
              <a:rPr lang="pl-PL" b="1" dirty="0" err="1">
                <a:latin typeface="+mj-lt"/>
              </a:rPr>
              <a:t>Proposed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finQbit</a:t>
            </a:r>
            <a:r>
              <a:rPr lang="pl-PL" b="1" dirty="0">
                <a:latin typeface="+mj-lt"/>
              </a:rPr>
              <a:t> 2 </a:t>
            </a:r>
            <a:r>
              <a:rPr lang="pl-PL" b="1" dirty="0" err="1">
                <a:latin typeface="+mj-lt"/>
              </a:rPr>
              <a:t>qubits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architecture</a:t>
            </a:r>
            <a:endParaRPr lang="pl-PL" dirty="0">
              <a:latin typeface="+mj-lt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E7625FE-916B-A205-B35C-FD3F73A672B9}"/>
              </a:ext>
            </a:extLst>
          </p:cNvPr>
          <p:cNvSpPr txBox="1"/>
          <p:nvPr/>
        </p:nvSpPr>
        <p:spPr>
          <a:xfrm>
            <a:off x="472440" y="2427536"/>
            <a:ext cx="459232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l-PL" sz="2000" b="1" dirty="0" err="1">
                <a:solidFill>
                  <a:schemeClr val="accent4"/>
                </a:solidFill>
              </a:rPr>
              <a:t>Future</a:t>
            </a:r>
            <a:r>
              <a:rPr lang="pl-PL" sz="2000" b="1" dirty="0">
                <a:solidFill>
                  <a:schemeClr val="accent4"/>
                </a:solidFill>
              </a:rPr>
              <a:t> </a:t>
            </a:r>
            <a:r>
              <a:rPr lang="pl-PL" sz="2000" b="1" dirty="0" err="1">
                <a:solidFill>
                  <a:schemeClr val="accent4"/>
                </a:solidFill>
              </a:rPr>
              <a:t>research</a:t>
            </a:r>
            <a:endParaRPr lang="pl-PL" sz="2000" dirty="0"/>
          </a:p>
        </p:txBody>
      </p:sp>
      <p:sp>
        <p:nvSpPr>
          <p:cNvPr id="9" name="Google Shape;90;p15">
            <a:extLst>
              <a:ext uri="{FF2B5EF4-FFF2-40B4-BE49-F238E27FC236}">
                <a16:creationId xmlns:a16="http://schemas.microsoft.com/office/drawing/2014/main" id="{F41350DF-E7CB-01A0-5AD0-B767BAE0B5CA}"/>
              </a:ext>
            </a:extLst>
          </p:cNvPr>
          <p:cNvSpPr txBox="1">
            <a:spLocks/>
          </p:cNvSpPr>
          <p:nvPr/>
        </p:nvSpPr>
        <p:spPr>
          <a:xfrm>
            <a:off x="472440" y="2735313"/>
            <a:ext cx="6512292" cy="1456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285750" indent="-285750" hangingPunct="1">
              <a:buFontTx/>
              <a:buChar char="-"/>
            </a:pPr>
            <a:r>
              <a:rPr lang="pl-PL" b="1" dirty="0" err="1">
                <a:latin typeface="+mj-lt"/>
              </a:rPr>
              <a:t>More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realistic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stochastic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models</a:t>
            </a:r>
            <a:r>
              <a:rPr lang="pl-PL" b="1" dirty="0">
                <a:latin typeface="+mj-lt"/>
              </a:rPr>
              <a:t> (</a:t>
            </a:r>
            <a:r>
              <a:rPr lang="pl-PL" b="1" dirty="0" err="1">
                <a:latin typeface="+mj-lt"/>
              </a:rPr>
              <a:t>Heston</a:t>
            </a:r>
            <a:r>
              <a:rPr lang="pl-PL" b="1" dirty="0">
                <a:latin typeface="+mj-lt"/>
              </a:rPr>
              <a:t>…)</a:t>
            </a:r>
          </a:p>
          <a:p>
            <a:pPr marL="285750" indent="-285750" hangingPunct="1">
              <a:buFontTx/>
              <a:buChar char="-"/>
            </a:pPr>
            <a:r>
              <a:rPr lang="pl-PL" b="1" dirty="0" err="1">
                <a:latin typeface="+mj-lt"/>
              </a:rPr>
              <a:t>Exotic</a:t>
            </a:r>
            <a:r>
              <a:rPr lang="pl-PL" b="1" dirty="0">
                <a:latin typeface="+mj-lt"/>
              </a:rPr>
              <a:t> and </a:t>
            </a:r>
            <a:r>
              <a:rPr lang="pl-PL" b="1" dirty="0" err="1">
                <a:latin typeface="+mj-lt"/>
              </a:rPr>
              <a:t>path</a:t>
            </a:r>
            <a:r>
              <a:rPr lang="pl-PL" b="1" dirty="0">
                <a:latin typeface="+mj-lt"/>
              </a:rPr>
              <a:t>-dependent </a:t>
            </a:r>
            <a:r>
              <a:rPr lang="pl-PL" b="1" dirty="0" err="1">
                <a:latin typeface="+mj-lt"/>
              </a:rPr>
              <a:t>derivatives</a:t>
            </a:r>
            <a:r>
              <a:rPr lang="pl-PL" b="1" dirty="0">
                <a:latin typeface="+mj-lt"/>
              </a:rPr>
              <a:t> (American, </a:t>
            </a:r>
            <a:r>
              <a:rPr lang="pl-PL" b="1" dirty="0" err="1">
                <a:latin typeface="+mj-lt"/>
              </a:rPr>
              <a:t>Asian</a:t>
            </a:r>
            <a:r>
              <a:rPr lang="pl-PL" b="1" dirty="0">
                <a:latin typeface="+mj-lt"/>
              </a:rPr>
              <a:t> …)</a:t>
            </a:r>
          </a:p>
          <a:p>
            <a:pPr marL="285750" indent="-285750" hangingPunct="1">
              <a:buFontTx/>
              <a:buChar char="-"/>
            </a:pPr>
            <a:r>
              <a:rPr lang="pl-PL" b="1" dirty="0">
                <a:latin typeface="+mj-lt"/>
              </a:rPr>
              <a:t>Integration with Quantum </a:t>
            </a:r>
            <a:r>
              <a:rPr lang="pl-PL" b="1" dirty="0" err="1">
                <a:latin typeface="+mj-lt"/>
              </a:rPr>
              <a:t>Amplitude</a:t>
            </a:r>
            <a:r>
              <a:rPr lang="pl-PL" b="1" dirty="0">
                <a:latin typeface="+mj-lt"/>
              </a:rPr>
              <a:t> </a:t>
            </a:r>
            <a:r>
              <a:rPr lang="pl-PL" b="1" dirty="0" err="1">
                <a:latin typeface="+mj-lt"/>
              </a:rPr>
              <a:t>Estimation</a:t>
            </a:r>
            <a:endParaRPr lang="pl-PL" b="1" dirty="0">
              <a:latin typeface="+mj-lt"/>
            </a:endParaRPr>
          </a:p>
          <a:p>
            <a:pPr marL="285750" indent="-285750" hangingPunct="1">
              <a:buFontTx/>
              <a:buChar char="-"/>
            </a:pPr>
            <a:r>
              <a:rPr lang="pl-PL" b="1" dirty="0" err="1">
                <a:latin typeface="+mj-lt"/>
              </a:rPr>
              <a:t>More</a:t>
            </a:r>
            <a:r>
              <a:rPr lang="pl-PL" b="1" dirty="0">
                <a:latin typeface="+mj-lt"/>
              </a:rPr>
              <a:t> … </a:t>
            </a:r>
            <a:endParaRPr lang="pl-P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080722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magnifics_upscale-precision-we4uFarY0KTxXDoKVCcB-muwss_Abstract_digitally_generated_artwork_wide_cinematic_compo_8be46f49-319f-47a2-9a12-f2b9eaf211d8.pngGoogle Shape;172;p21" descr="magnifics_upscale-precision-we4uFarY0KTxXDoKVCcB-muwss_Abstract_digitally_generated_artwork_wide_cinematic_compo_8be46f49-319f-47a2-9a12-f2b9eaf211d8.pngGoogle Shape;172;p21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15910" y="0"/>
            <a:ext cx="9175835" cy="5143499"/>
          </a:xfrm>
          <a:prstGeom prst="rect">
            <a:avLst/>
          </a:prstGeom>
          <a:ln w="12700">
            <a:miter lim="400000"/>
          </a:ln>
          <a:effectLst>
            <a:reflection endPos="40000" dir="5400000" sy="-100000" algn="bl" rotWithShape="0"/>
          </a:effectLst>
        </p:spPr>
      </p:pic>
      <p:sp>
        <p:nvSpPr>
          <p:cNvPr id="204" name="Google Shape;173;p21"/>
          <p:cNvSpPr txBox="1">
            <a:spLocks noGrp="1"/>
          </p:cNvSpPr>
          <p:nvPr>
            <p:ph type="title"/>
          </p:nvPr>
        </p:nvSpPr>
        <p:spPr>
          <a:xfrm>
            <a:off x="436725" y="845249"/>
            <a:ext cx="7587599" cy="1726501"/>
          </a:xfrm>
          <a:prstGeom prst="rect">
            <a:avLst/>
          </a:prstGeom>
        </p:spPr>
        <p:txBody>
          <a:bodyPr/>
          <a:lstStyle>
            <a:lvl1pPr>
              <a:defRPr sz="5600">
                <a:solidFill>
                  <a:srgbClr val="1C0239"/>
                </a:solidFill>
              </a:defRPr>
            </a:lvl1pPr>
          </a:lstStyle>
          <a:p>
            <a:r>
              <a:t>Thank you</a:t>
            </a:r>
          </a:p>
        </p:txBody>
      </p:sp>
      <p:sp>
        <p:nvSpPr>
          <p:cNvPr id="205" name="Google Shape;174;p21"/>
          <p:cNvSpPr/>
          <p:nvPr/>
        </p:nvSpPr>
        <p:spPr>
          <a:xfrm>
            <a:off x="11175" y="431425"/>
            <a:ext cx="9146101" cy="9601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7" name="Google Shape;176;p21"/>
          <p:cNvSpPr/>
          <p:nvPr/>
        </p:nvSpPr>
        <p:spPr>
          <a:xfrm flipH="1" flipV="1">
            <a:off x="4211574" y="-6301"/>
            <a:ext cx="3474002" cy="5149802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Google Shape;177;p21"/>
          <p:cNvSpPr/>
          <p:nvPr/>
        </p:nvSpPr>
        <p:spPr>
          <a:xfrm flipH="1" flipV="1">
            <a:off x="4300900" y="2571625"/>
            <a:ext cx="4861201" cy="1205700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9" name="Google Shape;178;p21"/>
          <p:cNvSpPr/>
          <p:nvPr/>
        </p:nvSpPr>
        <p:spPr>
          <a:xfrm flipH="1">
            <a:off x="4473006" y="418842"/>
            <a:ext cx="54301" cy="54301"/>
          </a:xfrm>
          <a:prstGeom prst="ellipse">
            <a:avLst/>
          </a:prstGeom>
          <a:solidFill>
            <a:srgbClr val="1C023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10" name="Google Shape;179;p21"/>
          <p:cNvSpPr/>
          <p:nvPr/>
        </p:nvSpPr>
        <p:spPr>
          <a:xfrm flipH="1">
            <a:off x="6240507" y="3026941"/>
            <a:ext cx="54301" cy="54301"/>
          </a:xfrm>
          <a:prstGeom prst="ellipse">
            <a:avLst/>
          </a:prstGeom>
          <a:solidFill>
            <a:srgbClr val="1C023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11" name="Google Shape;180;p21"/>
          <p:cNvSpPr/>
          <p:nvPr/>
        </p:nvSpPr>
        <p:spPr>
          <a:xfrm flipH="1">
            <a:off x="2128291" y="1779024"/>
            <a:ext cx="4224901" cy="739801"/>
          </a:xfrm>
          <a:prstGeom prst="line">
            <a:avLst/>
          </a:prstGeom>
          <a:ln>
            <a:solidFill>
              <a:srgbClr val="1C0239"/>
            </a:solidFill>
          </a:ln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545</Words>
  <Application>Microsoft Macintosh PowerPoint</Application>
  <PresentationFormat>Pokaz na ekranie (16:9)</PresentationFormat>
  <Paragraphs>77</Paragraphs>
  <Slides>18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2" baseType="lpstr">
      <vt:lpstr>Arial</vt:lpstr>
      <vt:lpstr>Cambria Math</vt:lpstr>
      <vt:lpstr>Comfortaa</vt:lpstr>
      <vt:lpstr>Simple Light</vt:lpstr>
      <vt:lpstr>QNN for Derivative Pricing on NISQ Hardware</vt:lpstr>
      <vt:lpstr>Assistant Professor — SGH Warsaw School of Economics  Quantum Machine Learning Engineer — finQbit  Research focus: data analysis, quantum machine learning, and mathematical foundations of QM. Author of the QIFT framework bridging non-commutative quantum formalism with classical data analysis. Member of:        The Quantum Finance Boardroom, QPoland</vt:lpstr>
      <vt:lpstr>Why Quantum for Derivatives? </vt:lpstr>
      <vt:lpstr>Prezentacja programu PowerPoint</vt:lpstr>
      <vt:lpstr>Data generator:  Moneyness (m=S/K)               [ 0.8, 1.2  ] Time to Maturity ( T )                 [ 0.2, 1.1  ] Risk free Interest Rate ( r )       [ 0.02, 0.1 ] Volatility ( σ )                             [ 0.01, 1.0 ]  Price BSM C = m N(d_1 )-e^(-rT ) N(d_2 )  Train set: 500, Test set 100* </vt:lpstr>
      <vt:lpstr>Default quantum model:       Fourier Re-uploading:    </vt:lpstr>
      <vt:lpstr>Each qubit encodes 2 features via orthogonal Ry/Rx axes. 4 BSM inputs on just 2 qubits, maximizing information density per qubit.</vt:lpstr>
      <vt:lpstr>Each qubit encodes 2 features via orthogonal Ry/Rx axes. 4 BSM inputs on just 2 qubits, maximizing information density per qubit.</vt:lpstr>
      <vt:lpstr>Cross-Platform Hardware Results Ideal simulation Shot noise simulation Execution on QPU</vt:lpstr>
      <vt:lpstr>Ideal simulation</vt:lpstr>
      <vt:lpstr>Shot noise simulation</vt:lpstr>
      <vt:lpstr>IQM Garnet Processor</vt:lpstr>
      <vt:lpstr>IonQ Forte Processor</vt:lpstr>
      <vt:lpstr>Rigetti Ankaa-3 Processor</vt:lpstr>
      <vt:lpstr>IBM Fez Heron</vt:lpstr>
      <vt:lpstr>QPU Summary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Zając Sebastian</cp:lastModifiedBy>
  <cp:revision>34</cp:revision>
  <dcterms:modified xsi:type="dcterms:W3CDTF">2026-05-08T19:22:04Z</dcterms:modified>
</cp:coreProperties>
</file>