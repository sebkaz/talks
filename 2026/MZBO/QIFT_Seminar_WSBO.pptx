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75" r:id="rId6"/>
    <p:sldId id="276" r:id="rId7"/>
    <p:sldId id="277" r:id="rId8"/>
    <p:sldId id="278" r:id="rId9"/>
    <p:sldId id="264" r:id="rId10"/>
    <p:sldId id="261" r:id="rId11"/>
    <p:sldId id="262" r:id="rId12"/>
    <p:sldId id="263" r:id="rId13"/>
    <p:sldId id="280" r:id="rId14"/>
    <p:sldId id="266" r:id="rId15"/>
    <p:sldId id="281" r:id="rId16"/>
    <p:sldId id="269" r:id="rId17"/>
    <p:sldId id="270" r:id="rId18"/>
    <p:sldId id="260" r:id="rId19"/>
    <p:sldId id="279" r:id="rId20"/>
    <p:sldId id="271" r:id="rId21"/>
    <p:sldId id="272" r:id="rId22"/>
    <p:sldId id="273" r:id="rId23"/>
    <p:sldId id="274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515"/>
    <p:restoredTop sz="94610"/>
  </p:normalViewPr>
  <p:slideViewPr>
    <p:cSldViewPr snapToGrid="0" snapToObjects="1">
      <p:cViewPr>
        <p:scale>
          <a:sx n="250" d="100"/>
          <a:sy n="250" d="100"/>
        </p:scale>
        <p:origin x="132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138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 </a:t>
            </a:r>
            <a:r>
              <a:rPr lang="en-US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skwantowałem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analizę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danych</a:t>
            </a: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</a:t>
            </a: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kwantowa</a:t>
            </a: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</a:t>
            </a: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danych</a:t>
            </a: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</a:t>
            </a:r>
            <a:r>
              <a:rPr lang="en-US" sz="1800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naprawdę</a:t>
            </a: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kwantowa</a:t>
            </a: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Zając  ·  SGH Szkoła Główna Handlowa w Warszawie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Jacobem L. Cybulskim (Deakin University)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Pytanie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188720"/>
            <a:ext cx="7680960" cy="16459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731520" y="1188720"/>
            <a:ext cx="73152" cy="1645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1097280" y="12801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tabelę danych (Iris, klienci, sensory...).
Chcę przetworzyć ją na komputerze kwantowym.
</a:t>
            </a: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może pójść nie tak?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Spoiler: wszystko zależy od tego, JAK zakodujesz dane — nie od samych danych.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Jak dziś analizujemy dane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320040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Statystyka klasyczna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7889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Testowanie hipotez, regresja, ANOVA</a:t>
            </a:r>
          </a:p>
          <a:p>
            <a:pPr marL="0" indent="0" algn="ctr">
              <a:buNone/>
            </a:pP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założenia modelu, </a:t>
            </a:r>
            <a:b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p-value, przedziały ufności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1188720"/>
            <a:ext cx="1965960" cy="320040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4173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2103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Sieci neuronowe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0" y="2788919"/>
            <a:ext cx="1691640" cy="15328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transformery, LLM </a:t>
            </a:r>
          </a:p>
          <a:p>
            <a:pPr marL="0" indent="0" algn="ctr">
              <a:buNone/>
            </a:pP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dane nieustrukturyzowane, embeddingi, uczenie reprezentacji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188720"/>
            <a:ext cx="1965960" cy="320040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4173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2103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Modele grafowe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 sieciowe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92040" y="27889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Grafy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GNN</a:t>
            </a:r>
          </a:p>
          <a:p>
            <a:pPr marL="0" indent="0" algn="ctr">
              <a:buNone/>
            </a:pP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dane relacyjne, topologia, message passing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1188720"/>
            <a:ext cx="1965960" cy="320040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4173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10312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Metody jądrowe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(SVM)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040880" y="27889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 φ: ℝᵈ → H,</a:t>
            </a:r>
          </a:p>
          <a:p>
            <a:pPr marL="0" indent="0" algn="ctr">
              <a:buNone/>
            </a:pP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kernel trick </a:t>
            </a:r>
          </a:p>
          <a:p>
            <a:pPr marL="0" indent="0" algn="ctr">
              <a:buNone/>
            </a:pPr>
            <a:endParaRPr lang="en-US" sz="11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K(x,x') = ⟨φ(x),φ(x')⟩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Wspólny mianownik: osadzamy dane w bogatszej przestrzeni, by zyskać ekspresywność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 trick → kwantowy embedding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Klasyczny SVM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map:
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φ: ℝᵈ → “</a:t>
            </a:r>
            <a:r>
              <a:rPr lang="en-US" sz="16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</a:t>
            </a: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
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K(x,x') = ⟨φ(x), φ(x')⟩
</a:t>
            </a:r>
            <a:r>
              <a:rPr lang="pl-PL" sz="13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Ekspresywność zależy od</a:t>
            </a:r>
            <a:endParaRPr lang="pl-PL" sz="1300" noProof="1"/>
          </a:p>
          <a:p>
            <a:pPr marL="0" indent="0">
              <a:buNone/>
            </a:pPr>
            <a:r>
              <a:rPr lang="pl-PL" sz="1300" noProof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wyboru jądra (RBF, wielomianowe...)</a:t>
            </a:r>
            <a:endParaRPr lang="pl-PL" sz="1300" noProof="1"/>
          </a:p>
        </p:txBody>
      </p:sp>
      <p:sp>
        <p:nvSpPr>
          <p:cNvPr id="6" name="Shape 4"/>
          <p:cNvSpPr/>
          <p:nvPr/>
        </p:nvSpPr>
        <p:spPr>
          <a:xfrm>
            <a:off x="4297680" y="23774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450592"/>
            <a:ext cx="402336" cy="4023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46320" y="1097280"/>
            <a:ext cx="3840480" cy="329184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Text 6"/>
          <p:cNvSpPr/>
          <p:nvPr/>
        </p:nvSpPr>
        <p:spPr>
          <a:xfrm>
            <a:off x="484632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Kwantowy embedding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1206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map:
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</a:t>
            </a: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ℝᵈ → Hilbert, Fock space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
</a:t>
            </a:r>
            <a:endParaRPr lang="en-US" sz="13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K(x,x') = |⟨ψ(x)|ψ(x')⟩|²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Ekspresywność zależy od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wyboru kodowania!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sama logika, bogatsza przestrzeń docelowa — ale tylko jeśli użyjesz jej właściwie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Klasyczny obrazek QML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77790" y="502920"/>
            <a:ext cx="486075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Dane × Metody: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77790" y="1923850"/>
            <a:ext cx="7883091" cy="2964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= klasyczne dane + klasyczne metody (regresja, SVM)
QC = kwantowe dane + klasyczne metody (tomografia)
</a:t>
            </a: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 = kwantowe dane + kwantowe metody (error correction)
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 = klasyczne dane + kwantowe </a:t>
            </a:r>
            <a:r>
              <a:rPr lang="en-US" sz="16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QML. 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600" b="1" dirty="0">
              <a:solidFill>
                <a:srgbClr val="F59E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w tym obrazku brakuje kluczowego elementu: FEATURE MAP. </a:t>
            </a:r>
          </a:p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ona decyduje, czy CQ jest naprawdę Q czy tylko C w </a:t>
            </a:r>
            <a:r>
              <a:rPr lang="en-US" sz="16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przebraniu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lnSpc>
                <a:spcPct val="140000"/>
              </a:lnSpc>
            </a:pPr>
            <a:b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0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quantum.cloud.ibm.com</a:t>
            </a: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/learning/</a:t>
            </a:r>
            <a:r>
              <a:rPr lang="en-US" sz="10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/courses/quantum-machine-learning/classical-ml-review</a:t>
            </a:r>
            <a:endParaRPr lang="en-US" sz="10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C358842B-64AC-F6AD-1194-A43A62C4E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5906" y="731520"/>
            <a:ext cx="2656573" cy="28168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kwantowy aproksymuje gładką rozmaitość finansową na prawdziwym hardware.</a:t>
            </a:r>
            <a:endParaRPr lang="en-US" sz="16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7F8856D-409C-6BFD-CCD7-0BA7D095E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468" y="74159"/>
            <a:ext cx="5592279" cy="1687826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C2BC8E1F-E392-7E4A-F44C-CC0D87716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934831"/>
            <a:ext cx="4572000" cy="616289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050EFE45-3B05-B360-7E6A-FFB232F64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2673096"/>
            <a:ext cx="4572000" cy="15105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2</a:t>
            </a:r>
            <a:endParaRPr lang="en-US" sz="14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9501691C-1674-B39B-6CA6-AF1BB1DCC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0"/>
            <a:ext cx="5897880" cy="1600961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928C8C7F-5703-1603-A7F8-93DBE6748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89" y="1986679"/>
            <a:ext cx="4020955" cy="2884141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55DEA753-026D-C716-76E3-336B39DCA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89" y="660038"/>
            <a:ext cx="2723949" cy="1215242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C16E1DFF-2563-6EC9-C674-5961F7F9C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250" y="1986679"/>
            <a:ext cx="3426571" cy="28841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Zastosowanie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0348" y="3798779"/>
            <a:ext cx="8753119" cy="12555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Mniej</a:t>
            </a: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parametrów, mniej zmiennych, lepszy wynik. Ale: czy to kwantowy efekt, czy dobry embedding?
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trzy projekty </a:t>
            </a:r>
            <a:r>
              <a:rPr lang="en-US" sz="16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prowokują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pytanie: w jakim sensie powyższe modele są naprawdę </a:t>
            </a:r>
            <a:r>
              <a:rPr lang="en-US" sz="16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kwantowe</a:t>
            </a: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F6518EEB-6731-FB26-F908-AA15C45D3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052" y="173208"/>
            <a:ext cx="1485403" cy="2087671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EF78A9C-659F-E6A4-7061-6B9D6E8A1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6923" y="274320"/>
            <a:ext cx="3275762" cy="1709613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B5CB90DA-60CA-905F-D223-4A1A50AF2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92" y="752999"/>
            <a:ext cx="1803300" cy="1230934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278467E1-EBF1-D508-3634-2B8D21D28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592" y="2034683"/>
            <a:ext cx="2417614" cy="1074134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2ED2E814-ACC7-FFEE-9A4A-14D54E8E4E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6923" y="2128151"/>
            <a:ext cx="3494326" cy="770634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62FCA0B3-5448-CB86-58D2-D29B7E3A1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6356" y="3108817"/>
            <a:ext cx="3494327" cy="6899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Kluczowy wniosek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653143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Dane nigdy nie są kwantowe.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Kodowanie</a:t>
            </a: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może</a:t>
            </a: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być</a:t>
            </a: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kwantowe.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481943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Pomiary Iris to klasyczne liczby z linijki.
Dane klienta to klasyczny rekord z bazy danych.
</a:t>
            </a:r>
            <a:r>
              <a:rPr lang="en-US" sz="16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Kwantowość</a:t>
            </a: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wchodzi</a:t>
            </a: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tylko przez embedding φ: ℝᵈ → H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tylko wtedy, gdy ten embedding tworzy niekomutatywną strukturę.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Kodowanie #1: Ładowanie prawdopodobieństwa (amplitude encoding)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Normalizacja danych: x = (3.5, 2.1, 4.7, 1.2) → x̃ = (0.30, 0.18, 0.41, 0.10)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jako amplitudy: |ψ⟩ = √0.30|1⟩ + √0.18|2⟩ + √0.41|3⟩ + √0.10|4⟩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 → reguła Borna: P(j) = |⟨j|ψ⟩|² = </a:t>
            </a:r>
            <a:r>
              <a:rPr lang="en-US" sz="15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x̃</a:t>
            </a:r>
            <a:r>
              <a:rPr lang="en-US" sz="15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← dostajesz z powrotem to, co włożyłeś!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825" y="2579993"/>
            <a:ext cx="8229600" cy="2011680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73152" cy="20116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2651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22960" y="315468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jest separowalny — brak koherencji między cechami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Zredukowana macierz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gęstości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r>
              <a:rPr lang="en-US" sz="14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x̃</a:t>
            </a:r>
            <a:r>
              <a:rPr lang="en-US" sz="14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|1⟩⟨1| + (1−x̃</a:t>
            </a:r>
            <a:r>
              <a:rPr lang="en-US" sz="14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)|0⟩⟨0|  →  czysto diagonalna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Wignera ≥ 0 wszędzie → klasycznie symulowalna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Cały pipeline redukuje się do klasycznej formy dwuliniowej w √p(x)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Twierdzenie o równoważności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772400" cy="20297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dane są zakodowane przez ładowanie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prawdopodobieństwa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dla dowolnego obwodu kwantowego U(θ) i dowolnej obserwabli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wyjście klasyfikatora ⟨ψ(x)|U†(θ) Ô U(θ)|ψ(x)⟩
</a:t>
            </a: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równoważne klasycznej formie dwuliniowej w √p(x).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43205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Żadna kwantowa przewaga nie jest możliwa — niezależnie od głębokości obwodu, liczby bramek czy optymalizacji.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C9684D7-7E32-4AB1-B3EF-B44DE181BD8B}"/>
              </a:ext>
            </a:extLst>
          </p:cNvPr>
          <p:cNvSpPr/>
          <p:nvPr/>
        </p:nvSpPr>
        <p:spPr>
          <a:xfrm>
            <a:off x="731520" y="2302956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loading:  |ψ(x)⟩ = Σⱼ √p(xⱼ) |j⟩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Macierz gęstości:  ρ(x) = |ψ(x)⟩⟨ψ(x)| = Σⱼₖ √pⱼ √pₖ |j⟩⟨k|
</a:t>
            </a:r>
            <a:r>
              <a:rPr lang="en-US" sz="18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Wartość</a:t>
            </a: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oczekiwana:  ⟨Ô⟩ = Tr[ρ · U†ÔU] = Σⱼₖ √pⱼ · Mⱼₖ(θ) · √pₖ
</a:t>
            </a:r>
            <a:r>
              <a:rPr lang="en-US" sz="2000" b="1" dirty="0" err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</a:t>
            </a: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M(θ) = U†ÔU jest stałą macierzą hermitowską, niezależną od danych.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Kodowanie #2: kodowanie fazowe (hamiltonowskie)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67248" y="1005840"/>
            <a:ext cx="8229600" cy="146304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Hamiltonian:  </a:t>
            </a: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Ĥ(x) = Σⱼ xⱼ n̂ⱼ  +  Σⱼₖ Jⱼₖ (â†ⱼâₖ + h.c.)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evolution:  </a:t>
            </a: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|ψ(x)⟩ = exp(−iĤ(x)t) |ψ₀⟩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0FD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73152" cy="20116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8803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się zmienia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Wartości danych xⱼ wchodzą jako fazy → prędkości rotacji, nie amplitudy
</a:t>
            </a:r>
            <a:endParaRPr lang="en-US" sz="14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Sprzężenia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Jⱼₖ generują splątanie między modami cech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Macierz gęstości ma elementy pozadiagonalne (koherencje)
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Wignera może być ujemna → </a:t>
            </a:r>
            <a:r>
              <a:rPr lang="en-US" sz="14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 daje niekomutatywność?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Klasyczne (komutatywne)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komutują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x₁·x₂ = x₂·x₁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Korelacje = liczby rzeczywiste
(kowariancja, Pearson r)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= rozkład prawdopodobieństwa
ρ diagonalna, C[Φ] = 0, faza Berry’ego Aμ ≡ 0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hipotez: </a:t>
            </a:r>
            <a:r>
              <a:rPr lang="en-US" sz="13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dwuliniowe</a:t>
            </a:r>
            <a:r>
              <a:rPr lang="en-US" sz="1300" dirty="0"/>
              <a:t> </a:t>
            </a:r>
            <a:r>
              <a:rPr lang="en-US" sz="1300" dirty="0" err="1"/>
              <a:t>f</a:t>
            </a:r>
            <a:r>
              <a:rPr lang="en-US" sz="13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ormy</a:t>
            </a: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√p(x)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475488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Kwantowe (niekomutatywne)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=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ℏ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≠ 0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Korelacje = zespolone koherencje
(pozadiagonalne elementy 1-RDM)
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 = macierz gęstości z
pozadiagonalnymi, C[Φ] &gt; 0, A</a:t>
            </a:r>
            <a:r>
              <a:rPr lang="en-US" sz="13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≠ 0 → Δg &gt; 0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Klasa hipotez: </a:t>
            </a:r>
            <a:r>
              <a:rPr lang="en-US" sz="13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szersza</a:t>
            </a:r>
            <a:r>
              <a:rPr lang="en-US" sz="1300" dirty="0"/>
              <a:t> </a:t>
            </a:r>
            <a:r>
              <a:rPr lang="en-US" sz="13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niż</a:t>
            </a: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klasyczna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"Ale moja macierz kowariancji nie jest diagonalna!"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Klasyczne</a:t>
            </a: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cechy mogą być skorelowane. Ale to inny rodzaj pozadiagonalności.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895047"/>
              </p:ext>
            </p:extLst>
          </p:nvPr>
        </p:nvGraphicFramePr>
        <p:xfrm>
          <a:off x="365760" y="1417320"/>
          <a:ext cx="8412480" cy="31089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Covariance matrix  Σ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1-RDM  γ  (quantum)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mierzy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Cov(Xⱼ, Xₖ) 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populacji obserwacji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⟨â†ₖ âⱼ⟩ wewnątrz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pojedynczego stanu kwantowego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Pozadiagonalność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oznacza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Cechy są statystycznie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skorelowane (np. r = 0.87)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Koherencja — superpozycja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między modami cech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Rozkład łączny p(x)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(niewiedza o łącznym stanie)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Ewolucja 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unitarna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ze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charset="0"/>
                          <a:ea typeface="Calibri" pitchFamily="34" charset="-122"/>
                          <a:cs typeface="Calibri" charset="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sprzężeniami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Jⱼₖ    </a:t>
                      </a:r>
                      <a:b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</a:b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Macierz gęstości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struktura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= Σ p(x)|x⟩⟨x|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zawsze diagonalna w bazie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has off-diagonal entries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ρⱼₖ = αⱼαₖ* ≠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wiedzy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określonym stanie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charset="0"/>
                          <a:ea typeface="Calibri" pitchFamily="34" charset="-122"/>
                          <a:cs typeface="Calibri" charset="0"/>
                        </a:rPr>
                        <a:t> 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  "pomiędzy"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Koherencja kwantowa nie zastępuje klasycznej korelacji — dodaje nowy rodzaj połączenia, którego żaden rozkład prawdopodobieństwa nie może wytworzyć.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Diagnostyki: skąd wiadomo, że jest kwantowo?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C[Φ] — </a:t>
            </a:r>
            <a:r>
              <a:rPr lang="en-US" sz="1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Złożoność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fazowa / </a:t>
            </a:r>
            <a:b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4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Faza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Berry’ego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C[Φ] = Eₓ [ ‖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(x)‖² / ‖ψ(x)‖² ]
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Dynamika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fazowa</a:t>
            </a:r>
            <a:b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Berry’ego: 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(x) =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i⟨ψ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|∂</a:t>
            </a:r>
            <a:r>
              <a:rPr lang="en-US" sz="13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ψ⟩
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C[Φ] = 0  ⇒  A</a:t>
            </a:r>
            <a:r>
              <a:rPr lang="en-US" sz="1400" b="1" baseline="-25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≡ 0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ϕ*gₘₛ = ¼ F</a:t>
            </a:r>
            <a:r>
              <a:rPr lang="en-US" sz="1100" baseline="-25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μν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(Fisher-Rao)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klasycznie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symulowalny
</a:t>
            </a:r>
          </a:p>
          <a:p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100" baseline="-25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μν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∑ᵢ (∂</a:t>
            </a:r>
            <a:r>
              <a:rPr lang="en-US" sz="1100" baseline="-25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ᵢ)(∂</a:t>
            </a:r>
            <a:r>
              <a:rPr lang="en-US" sz="1100" baseline="-25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ᵢ)/pᵢ
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C[Φ] &gt; 0  ⇒  Δg &gt; 0</a:t>
            </a:r>
          </a:p>
          <a:p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Fubini-Study metric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7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— Quantum Mutual Information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166878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300" baseline="-25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(j:k)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S(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+ S(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S(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300" baseline="-25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 von Neumann entropy 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ślady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częściowe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baseline="-250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00" b="1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baseline="-2500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only classical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features
</a:t>
            </a:r>
            <a:endParaRPr lang="en-US" sz="1300" dirty="0"/>
          </a:p>
          <a:p>
            <a:pPr marL="0" indent="0">
              <a:buNone/>
            </a:pPr>
            <a:r>
              <a:rPr lang="en-US" sz="14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baseline="-25000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</a:t>
            </a:r>
            <a:r>
              <a:rPr lang="en-US" sz="1400" b="1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baseline="-25000" dirty="0" err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quantum correlations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splątanie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między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zmiennymi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C[Φ] i I diagnozują kodowanie, nie dane — te same dane dają C=0 lub C&gt;0 w zależności od embeddingu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Porównanie pipeline’ów: klasyczny vs QIFT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Klasyczny test hipotezy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463040" cy="7315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91640" y="13716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1463040" cy="7315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201168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T(x) ∈ ℝ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3716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49040" y="1371600"/>
            <a:ext cx="1463040" cy="7315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74904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rozkład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referencyjny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3716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0" y="1371600"/>
            <a:ext cx="1463040" cy="7315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54864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137160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23760" y="1371600"/>
            <a:ext cx="1463040" cy="7315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22376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QIFT Pipeline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1463040" cy="7315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274320" y="2926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91640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011680" y="2926080"/>
            <a:ext cx="1463040" cy="731520"/>
          </a:xfrm>
          <a:prstGeom prst="rect">
            <a:avLst/>
          </a:prstGeom>
          <a:solidFill>
            <a:srgbClr val="E0F2F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2011680" y="2926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|ψ(x)⟩ ∈ 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749040" y="2926080"/>
            <a:ext cx="1463040" cy="731520"/>
          </a:xfrm>
          <a:prstGeom prst="rect">
            <a:avLst/>
          </a:prstGeom>
          <a:solidFill>
            <a:srgbClr val="E0F2F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749040" y="2926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U(θ)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obwód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86400" y="2926080"/>
            <a:ext cx="1463040" cy="731520"/>
          </a:xfrm>
          <a:prstGeom prst="rect">
            <a:avLst/>
          </a:prstGeom>
          <a:solidFill>
            <a:srgbClr val="E0F2F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5486400" y="2926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⟨Ô⟩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29260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223760" y="2926080"/>
            <a:ext cx="1463040" cy="731520"/>
          </a:xfrm>
          <a:prstGeom prst="rect">
            <a:avLst/>
          </a:prstGeom>
          <a:solidFill>
            <a:srgbClr val="F0FDF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7223760" y="29260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011680" y="3840480"/>
            <a:ext cx="512064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548640" y="4023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determinuje klasę hipotez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loading → klasa ≡ klasyczne formy dwuliniowe
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fazowe (J≠0) → klasa ⊃ klasyczna (ściśle szersza)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Systematyzacja kodowań przez algebry Liego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kodowanie generuje Dynamiczną Algebrę Liego (DLA) — algebrę generatorów hamiltonianu kodowania. DLA determinuje klasę hipotez.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573464"/>
              </p:ext>
            </p:extLst>
          </p:nvPr>
        </p:nvGraphicFramePr>
        <p:xfrm>
          <a:off x="457200" y="1737360"/>
          <a:ext cx="8229600" cy="2606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Encoding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DLA splątania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States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Klasa hipotez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Trywialna (brak generatorów)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Diagonal 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Wigner ≥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Bilinear in √p(x)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≡ klasyczne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Phase, diagonal 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(Σ xⱼn̂ⱼ)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Abelowa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(generatory komutują)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Stany produktowe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fazami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Fazowo-zależna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 separowalna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+ couplings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(+ Jⱼₖ â†ⱼâₖ)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Nie-abelowa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su(2ᵈ) </a:t>
                      </a:r>
                      <a:r>
                        <a:rPr lang="en-US" sz="12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lub</a:t>
                      </a: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subalgebra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Stany splątane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Wigner &lt;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 err="1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szersza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niż klasyczna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re-uploading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(multi-layer)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Potentially 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su(2ᵈ)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Bogata struktura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Maksymalna kwantowa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ekspresywność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badawczy: klasyfikacja kodowania → DLA → Q, I → ustalenie kiedy Q=0 ⟺ DLA abelowa ⟺ classical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Czym jest "pole" w QIFT?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556394"/>
              </p:ext>
            </p:extLst>
          </p:nvPr>
        </p:nvGraphicFramePr>
        <p:xfrm>
          <a:off x="548640" y="1097280"/>
          <a:ext cx="8046720" cy="3154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Standardowa QFT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QIFT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Dziedzina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Czasoprzestrzeń M⁴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punkty xᵘ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Przestrzeń cech ℝᵈ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kolumny j ∈ {1,...,d}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 pola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 φ̂(x)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punkcie czasoprzestrzeni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</a:t>
                      </a:r>
                      <a:r>
                        <a:rPr lang="en-US" sz="1300" baseline="-25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â†</a:t>
                      </a:r>
                      <a:r>
                        <a:rPr lang="en-US" sz="1300" baseline="-25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300" baseline="-25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przy indeksie cechy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[φ̂(x), π̂(y)] =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iℏ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(x−y)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[â_j, â†_k] =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iℏ</a:t>
                      </a:r>
                      <a:r>
                        <a:rPr lang="en-US" sz="1300" baseline="-25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ZC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r>
                        <a:rPr lang="en-US" sz="1300" baseline="-25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jk</a:t>
                      </a:r>
                      <a:endParaRPr lang="en-US" sz="1300" baseline="-25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Przestrzeń stanów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Fock 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(wzbudzenia cząstek)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Fock 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(wzbudzenia cech)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Korelacja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⟨φ̂(x)φ̂(y)⟩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(propagator)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â†</a:t>
                      </a:r>
                      <a:r>
                        <a:rPr lang="en-US" sz="1300" baseline="-25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3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â</a:t>
                      </a:r>
                      <a:r>
                        <a:rPr lang="en-US" sz="1300" baseline="-25000" dirty="0" err="1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(koherencja 1-RDM)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Pole = odwzorowanie z indeksu cechy na operator. Ta sama algebra, inna dziedzina.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685800" y="125129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QIFT nie twierdzi,</a:t>
            </a:r>
            <a:endParaRPr lang="en-US" sz="3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że dane są kwantowe.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76175" y="2088682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 [â</a:t>
            </a:r>
            <a:r>
              <a:rPr lang="pl-PL" sz="1600" baseline="-250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â†</a:t>
            </a:r>
            <a:r>
              <a:rPr lang="pl-PL" sz="1600" baseline="-250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= iℏ</a:t>
            </a:r>
            <a:r>
              <a:rPr lang="pl-PL" sz="1600" baseline="-250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</a:t>
            </a: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δ</a:t>
            </a:r>
            <a:r>
              <a:rPr lang="pl-PL" sz="1600" baseline="-250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jedno źródło generuje ograniczenia klasyczne (ℏ</a:t>
            </a:r>
            <a:r>
              <a:rPr lang="pl-PL" sz="1600" baseline="-250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</a:t>
            </a: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0)</a:t>
            </a:r>
            <a:b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warunki przejścia do reżimu kwantowego (ℏ</a:t>
            </a:r>
            <a:r>
              <a:rPr lang="pl-PL" sz="1600" baseline="-250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</a:t>
            </a:r>
            <a:r>
              <a:rPr lang="pl-PL" sz="1600" noProof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0)
</a:t>
            </a:r>
            <a:endParaRPr lang="pl-PL" sz="1600" noProof="1"/>
          </a:p>
          <a:p>
            <a:pPr marL="0" indent="0">
              <a:lnSpc>
                <a:spcPct val="140000"/>
              </a:lnSpc>
              <a:buNone/>
            </a:pPr>
            <a:r>
              <a:rPr lang="pl-PL" sz="1600" noProof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Statystyka klasyczna = limit ℏ</a:t>
            </a:r>
            <a:r>
              <a:rPr lang="pl-PL" sz="1600" baseline="-25000" noProof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</a:t>
            </a:r>
            <a:r>
              <a:rPr lang="pl-PL" sz="1600" noProof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0 QIFT. Nie ad hoc — wynika z algebry.
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pl-PL" sz="1600" b="1" noProof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BSM traktuje ceny jako ruch Browna — ceny nie SĄ ruchem Browna, ale framework jest produktywny. </a:t>
            </a:r>
            <a:br>
              <a:rPr lang="pl-PL" sz="1600" b="1" noProof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l-PL" sz="1600" b="1" noProof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QIFT traktuje kolumny tabeli jako mody polowe — kolumny NIE SĄ modami — ale to daje zasadę organizującą i parametr porządkowy ℏ</a:t>
            </a:r>
            <a:r>
              <a:rPr lang="pl-PL" sz="1600" b="1" baseline="-25000" noProof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</a:t>
            </a:r>
            <a:r>
              <a:rPr lang="pl-PL" sz="1600" b="1" noProof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l-PL" sz="16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szerszy</a:t>
            </a: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program QIFT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97480" cy="32918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269748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4"/>
          <p:cNvSpPr/>
          <p:nvPr/>
        </p:nvSpPr>
        <p:spPr>
          <a:xfrm>
            <a:off x="594360" y="1280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Bosonic QIFT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9436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 algebra: [â, â†] = ℏ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21488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 ciągłe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Stany koherentne i ściśkanie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Diagnostyka funkcji Wignera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Naturalne dla cech ciągłych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097280"/>
            <a:ext cx="2697480" cy="32918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Shape 8"/>
          <p:cNvSpPr/>
          <p:nvPr/>
        </p:nvSpPr>
        <p:spPr>
          <a:xfrm>
            <a:off x="3337560" y="1097280"/>
            <a:ext cx="2697480" cy="7315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9"/>
          <p:cNvSpPr/>
          <p:nvPr/>
        </p:nvSpPr>
        <p:spPr>
          <a:xfrm>
            <a:off x="3474720" y="1280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Fermionic QIFT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47472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algebra: {ĉ, ĉ†} =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21488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Zakaz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Pauliego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Antykomutacja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inne korelacje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Lepsze dla danych binarnych/</a:t>
            </a: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kategorycznych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17920" y="1097280"/>
            <a:ext cx="2697480" cy="3291840"/>
          </a:xfrm>
          <a:prstGeom prst="rect">
            <a:avLst/>
          </a:prstGeom>
          <a:solidFill>
            <a:srgbClr val="1A274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l-PL"/>
          </a:p>
        </p:txBody>
      </p:sp>
      <p:sp>
        <p:nvSpPr>
          <p:cNvPr id="16" name="Shape 13"/>
          <p:cNvSpPr/>
          <p:nvPr/>
        </p:nvSpPr>
        <p:spPr>
          <a:xfrm>
            <a:off x="6217920" y="109728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4"/>
          <p:cNvSpPr/>
          <p:nvPr/>
        </p:nvSpPr>
        <p:spPr>
          <a:xfrm>
            <a:off x="6355080" y="1280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Field Theory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355080" y="16916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Głęboka struktura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2148840"/>
            <a:ext cx="2423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Renormalizacja → skalowanie cech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Symetrie → niezmiennicze klasyfikatory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Propagatory → korelacje cech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próżni → rozkład a priori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Wszystko pochodzi z jednego źródła:  [</a:t>
            </a:r>
            <a:r>
              <a:rPr lang="en-US" sz="1300" b="1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</a:t>
            </a:r>
            <a:r>
              <a:rPr lang="en-US" sz="1300" b="1" i="1" baseline="-250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3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â†</a:t>
            </a:r>
            <a:r>
              <a:rPr lang="en-US" sz="1300" b="1" i="1" baseline="-250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en-US" sz="13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= </a:t>
            </a:r>
            <a:r>
              <a:rPr lang="en-US" sz="1300" b="1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ℏ</a:t>
            </a:r>
            <a:r>
              <a:rPr lang="en-US" sz="1300" b="1" i="1" baseline="-250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</a:t>
            </a:r>
            <a:r>
              <a:rPr lang="en-US" sz="13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i="1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r>
              <a:rPr lang="en-US" sz="1300" b="1" i="1" baseline="-25000" dirty="0" err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r>
              <a:rPr lang="en-US" sz="1300" b="1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jedna algebra, wiele manifestacji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Wnioski dla statystyka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Kwantowa analiza danych = embedding danych w przestrzeń Hilberta + kwantowe przetwarzanie. Ta sama logika co metody jądrowe.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6916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wszystkie embeddingi są równe. Probability loading sprowadza się do statystyki klasycznej — nic nie zyskujesz.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3317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fazowe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sprzężeniem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r>
              <a:rPr lang="en-US" sz="1300" baseline="-250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tworzy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kwantowe stany, które rozszerzają klasę hipotez.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971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Diagnostyki Q (ujemność Wignera) i I (nadwyżka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kwantowej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informacji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mówią, w którym reżimie jesteś.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nigdy nie są kwantowe. To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kodowanie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danych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decyduje, czy analiza jest kwantowa — czy nie.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251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dopiero pierwszy krok — rozszerzenia bozonowe, fermionowe i pełna teoria pola otwierają nowe kierunki badań.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Wiadomość dla statystyków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superpozycji: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Statystyka wraca.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 to statystyka kwantowa.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0" y="4114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:)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Dziękuję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Zając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SGH Warsaw School of Economics
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arXiv:2602.21350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Jacob L. Cybulski (Deakin University)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2126</Words>
  <Application>Microsoft Macintosh PowerPoint</Application>
  <PresentationFormat>Pokaz na ekranie (16:9)</PresentationFormat>
  <Paragraphs>306</Paragraphs>
  <Slides>23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23</vt:i4>
      </vt:variant>
    </vt:vector>
  </HeadingPairs>
  <TitlesOfParts>
    <vt:vector size="27" baseType="lpstr">
      <vt:lpstr>Arial</vt:lpstr>
      <vt:lpstr>Calibri</vt:lpstr>
      <vt:lpstr>Georgia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Is Quantum Data Analysis Actually Quantum?</dc:title>
  <dc:subject>PptxGenJS Presentation</dc:subject>
  <dc:creator>Sebastian Zając</dc:creator>
  <cp:lastModifiedBy>Zając Sebastian</cp:lastModifiedBy>
  <cp:revision>21</cp:revision>
  <dcterms:created xsi:type="dcterms:W3CDTF">2026-04-20T15:56:34Z</dcterms:created>
  <dcterms:modified xsi:type="dcterms:W3CDTF">2026-06-08T16:23:12Z</dcterms:modified>
</cp:coreProperties>
</file>